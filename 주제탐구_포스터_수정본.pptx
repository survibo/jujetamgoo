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6" r:id="rId2"/>
  </p:sldIdLst>
  <p:sldSz cx="6858000" cy="9144000" type="letter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1B771-F182-4304-8DFC-1F73E804F4FB}" v="1" dt="2026-07-02T13:13:33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588" autoAdjust="0"/>
    <p:restoredTop sz="94660"/>
  </p:normalViewPr>
  <p:slideViewPr>
    <p:cSldViewPr snapToGrid="0">
      <p:cViewPr>
        <p:scale>
          <a:sx n="125" d="100"/>
          <a:sy n="125" d="100"/>
        </p:scale>
        <p:origin x="1362" y="-2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혁 김" userId="673a45dc699d0b3e" providerId="LiveId" clId="{B83A4E28-A29A-43FB-A79E-2E1372E663CB}"/>
    <pc:docChg chg="undo custSel modSld">
      <pc:chgData name="서혁 김" userId="673a45dc699d0b3e" providerId="LiveId" clId="{B83A4E28-A29A-43FB-A79E-2E1372E663CB}" dt="2026-07-03T04:43:49.475" v="235" actId="1036"/>
      <pc:docMkLst>
        <pc:docMk/>
      </pc:docMkLst>
      <pc:sldChg chg="modSp mod">
        <pc:chgData name="서혁 김" userId="673a45dc699d0b3e" providerId="LiveId" clId="{B83A4E28-A29A-43FB-A79E-2E1372E663CB}" dt="2026-07-03T04:43:49.475" v="235" actId="1036"/>
        <pc:sldMkLst>
          <pc:docMk/>
          <pc:sldMk cId="2775059156" sldId="256"/>
        </pc:sldMkLst>
        <pc:spChg chg="mod">
          <ac:chgData name="서혁 김" userId="673a45dc699d0b3e" providerId="LiveId" clId="{B83A4E28-A29A-43FB-A79E-2E1372E663CB}" dt="2026-07-02T13:13:55.256" v="204" actId="313"/>
          <ac:spMkLst>
            <pc:docMk/>
            <pc:sldMk cId="2775059156" sldId="256"/>
            <ac:spMk id="5" creationId="{00000000-0000-0000-0000-000000000000}"/>
          </ac:spMkLst>
        </pc:spChg>
        <pc:spChg chg="mod">
          <ac:chgData name="서혁 김" userId="673a45dc699d0b3e" providerId="LiveId" clId="{B83A4E28-A29A-43FB-A79E-2E1372E663CB}" dt="2026-07-03T04:42:54.386" v="208" actId="1035"/>
          <ac:spMkLst>
            <pc:docMk/>
            <pc:sldMk cId="2775059156" sldId="256"/>
            <ac:spMk id="6" creationId="{00000000-0000-0000-0000-000000000000}"/>
          </ac:spMkLst>
        </pc:spChg>
        <pc:spChg chg="mod">
          <ac:chgData name="서혁 김" userId="673a45dc699d0b3e" providerId="LiveId" clId="{B83A4E28-A29A-43FB-A79E-2E1372E663CB}" dt="2026-07-02T13:13:17.972" v="181" actId="20577"/>
          <ac:spMkLst>
            <pc:docMk/>
            <pc:sldMk cId="2775059156" sldId="256"/>
            <ac:spMk id="7" creationId="{00000000-0000-0000-0000-000000000000}"/>
          </ac:spMkLst>
        </pc:spChg>
        <pc:spChg chg="mod">
          <ac:chgData name="서혁 김" userId="673a45dc699d0b3e" providerId="LiveId" clId="{B83A4E28-A29A-43FB-A79E-2E1372E663CB}" dt="2026-07-03T04:43:33.775" v="229" actId="1035"/>
          <ac:spMkLst>
            <pc:docMk/>
            <pc:sldMk cId="2775059156" sldId="256"/>
            <ac:spMk id="8" creationId="{00000000-0000-0000-0000-000000000000}"/>
          </ac:spMkLst>
        </pc:spChg>
        <pc:picChg chg="mod">
          <ac:chgData name="서혁 김" userId="673a45dc699d0b3e" providerId="LiveId" clId="{B83A4E28-A29A-43FB-A79E-2E1372E663CB}" dt="2026-07-02T13:13:13.332" v="179" actId="1035"/>
          <ac:picMkLst>
            <pc:docMk/>
            <pc:sldMk cId="2775059156" sldId="256"/>
            <ac:picMk id="3" creationId="{1C3B43D1-5084-0DBF-18DC-F83ACDB330BC}"/>
          </ac:picMkLst>
        </pc:picChg>
        <pc:picChg chg="mod">
          <ac:chgData name="서혁 김" userId="673a45dc699d0b3e" providerId="LiveId" clId="{B83A4E28-A29A-43FB-A79E-2E1372E663CB}" dt="2026-07-03T04:43:49.475" v="235" actId="1036"/>
          <ac:picMkLst>
            <pc:docMk/>
            <pc:sldMk cId="2775059156" sldId="256"/>
            <ac:picMk id="10" creationId="{8007F3B4-56D0-155B-7318-10114163A753}"/>
          </ac:picMkLst>
        </pc:picChg>
        <pc:picChg chg="mod">
          <ac:chgData name="서혁 김" userId="673a45dc699d0b3e" providerId="LiveId" clId="{B83A4E28-A29A-43FB-A79E-2E1372E663CB}" dt="2026-07-03T04:43:33.775" v="229" actId="1035"/>
          <ac:picMkLst>
            <pc:docMk/>
            <pc:sldMk cId="2775059156" sldId="256"/>
            <ac:picMk id="21" creationId="{5A5D5F54-4C9C-B201-47E4-3DEDA43309C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876DD-2ECB-4391-8BA8-BB23CD9FC081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867EA-8FFA-47A0-AD6F-42B1679D4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6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순서도: 대체 처리 8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대체 처리 6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426245" y="3360144"/>
            <a:ext cx="11017" cy="5310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순서도: 대체 처리 15"/>
          <p:cNvSpPr/>
          <p:nvPr userDrawn="1"/>
        </p:nvSpPr>
        <p:spPr>
          <a:xfrm>
            <a:off x="493922" y="3005768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탐구 제안서</a:t>
            </a:r>
          </a:p>
        </p:txBody>
      </p:sp>
    </p:spTree>
    <p:extLst>
      <p:ext uri="{BB962C8B-B14F-4D97-AF65-F5344CB8AC3E}">
        <p14:creationId xmlns:p14="http://schemas.microsoft.com/office/powerpoint/2010/main" val="311347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53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6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8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3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73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03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51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65A0B9EE-98E3-481A-A7E8-04A8CF88972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/>
          <a:lstStyle/>
          <a:p>
            <a:fld id="{42803009-382A-42B3-98A2-D745398216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78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대체 처리 6"/>
          <p:cNvSpPr/>
          <p:nvPr userDrawn="1"/>
        </p:nvSpPr>
        <p:spPr>
          <a:xfrm>
            <a:off x="493922" y="722306"/>
            <a:ext cx="6081311" cy="939403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대체 처리 7"/>
          <p:cNvSpPr/>
          <p:nvPr userDrawn="1"/>
        </p:nvSpPr>
        <p:spPr>
          <a:xfrm>
            <a:off x="396607" y="647025"/>
            <a:ext cx="6081311" cy="939403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396607" y="308471"/>
            <a:ext cx="2800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2026 </a:t>
            </a:r>
            <a:r>
              <a:rPr lang="ko-KR" altLang="en-US" sz="1600" dirty="0" err="1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주제탐구</a:t>
            </a:r>
            <a:r>
              <a:rPr lang="ko-KR" altLang="en-US" sz="1600" dirty="0">
                <a:latin typeface="1984대화나눔_본문체_Bold" panose="02020603020101020101" pitchFamily="18" charset="-127"/>
                <a:ea typeface="1984대화나눔_본문체_Bold" panose="02020603020101020101" pitchFamily="18" charset="-127"/>
              </a:rPr>
              <a:t> 박람회 제안서</a:t>
            </a:r>
          </a:p>
        </p:txBody>
      </p:sp>
      <p:sp>
        <p:nvSpPr>
          <p:cNvPr id="10" name="순서도: 대체 처리 9"/>
          <p:cNvSpPr/>
          <p:nvPr userDrawn="1"/>
        </p:nvSpPr>
        <p:spPr>
          <a:xfrm>
            <a:off x="396606" y="1836143"/>
            <a:ext cx="4274546" cy="109434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순서도: 대체 처리 10"/>
          <p:cNvSpPr/>
          <p:nvPr userDrawn="1"/>
        </p:nvSpPr>
        <p:spPr>
          <a:xfrm>
            <a:off x="4803354" y="1825125"/>
            <a:ext cx="1771879" cy="1105362"/>
          </a:xfrm>
          <a:prstGeom prst="flowChartAlternateProcess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순서도: 대체 처리 11"/>
          <p:cNvSpPr/>
          <p:nvPr userDrawn="1"/>
        </p:nvSpPr>
        <p:spPr>
          <a:xfrm>
            <a:off x="493922" y="1705777"/>
            <a:ext cx="1445047" cy="302966"/>
          </a:xfrm>
          <a:prstGeom prst="flowChartAlternateProcess">
            <a:avLst/>
          </a:prstGeom>
          <a:solidFill>
            <a:schemeClr val="tx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제안서 요약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396606" y="3125117"/>
            <a:ext cx="6178627" cy="56993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2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91817"/>
            <a:ext cx="5852160" cy="8566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정렬에서의 </a:t>
            </a:r>
            <a:r>
              <a:rPr lang="en-US" altLang="ko-KR" sz="2400" b="1" dirty="0">
                <a:solidFill>
                  <a:srgbClr val="1F2937"/>
                </a:solidFill>
                <a:latin typeface="맑은 고딕"/>
                <a:ea typeface="맑은 고딕"/>
              </a:rPr>
              <a:t>Grokking:</a:t>
            </a:r>
          </a:p>
          <a:p>
            <a:pPr>
              <a:spcAft>
                <a:spcPts val="200"/>
              </a:spcAft>
            </a:pPr>
            <a:r>
              <a:rPr lang="ko-KR" altLang="en-US" sz="2400" b="1" dirty="0">
                <a:solidFill>
                  <a:srgbClr val="1F2937"/>
                </a:solidFill>
                <a:latin typeface="맑은 고딕"/>
                <a:ea typeface="맑은 고딕"/>
              </a:rPr>
              <a:t>일반화 조건과 내부 구조 분석</a:t>
            </a:r>
            <a:endParaRPr sz="24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6840" y="2031187"/>
            <a:ext cx="4293732" cy="897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800" dirty="0"/>
              <a:t>인공지능은 처음에는 문제의 답을 외우기만 하다가</a:t>
            </a:r>
            <a:r>
              <a:rPr lang="en-US" altLang="ko-KR" sz="800" dirty="0"/>
              <a:t>, </a:t>
            </a:r>
            <a:r>
              <a:rPr lang="ko-KR" altLang="en-US" sz="800" dirty="0"/>
              <a:t>훈련을 더 지속하면 어느 순간 규칙 자체를 깨우쳐 처음 보는 문제를 풀어내는데</a:t>
            </a:r>
            <a:r>
              <a:rPr lang="en-US" altLang="ko-KR" sz="800" dirty="0"/>
              <a:t>, </a:t>
            </a:r>
            <a:r>
              <a:rPr lang="ko-KR" altLang="en-US" sz="800" dirty="0"/>
              <a:t>이 현상을 </a:t>
            </a:r>
            <a:r>
              <a:rPr lang="en-US" altLang="ko-KR" sz="800" dirty="0"/>
              <a:t>'</a:t>
            </a:r>
            <a:r>
              <a:rPr lang="en" altLang="ko-KR" sz="800" dirty="0"/>
              <a:t>Grokking'</a:t>
            </a:r>
            <a:r>
              <a:rPr lang="ko-KR" altLang="en-US" sz="800" dirty="0"/>
              <a:t>이라고 부른다</a:t>
            </a:r>
            <a:r>
              <a:rPr lang="en-US" altLang="ko-KR" sz="800" dirty="0"/>
              <a:t>. </a:t>
            </a:r>
            <a:r>
              <a:rPr lang="ko-KR" altLang="en-US" sz="800" dirty="0"/>
              <a:t>지금까지의 연구는 대부분 두 숫자를 계산해 답 하나를 내는 문제에 머물러 있다</a:t>
            </a:r>
            <a:r>
              <a:rPr lang="en-US" altLang="ko-KR" sz="800" dirty="0"/>
              <a:t>. </a:t>
            </a:r>
            <a:r>
              <a:rPr lang="ko-KR" altLang="en-US" sz="800" dirty="0"/>
              <a:t>본 연구는 여러 숫자를 받아 순서대로 재배열해야 하는 정렬 같은 과제에서도 </a:t>
            </a:r>
            <a:r>
              <a:rPr lang="en-US" altLang="ko-KR" sz="800" dirty="0"/>
              <a:t>Grokking</a:t>
            </a:r>
            <a:r>
              <a:rPr lang="ko-KR" altLang="en-US" sz="800" dirty="0"/>
              <a:t>이 일어나는지 탐구한다</a:t>
            </a:r>
            <a:r>
              <a:rPr lang="en-US" altLang="ko-KR" sz="800" dirty="0"/>
              <a:t>. </a:t>
            </a:r>
            <a:r>
              <a:rPr lang="ko-KR" altLang="en-US" sz="800" dirty="0"/>
              <a:t>이를 위해 정렬 규칙을 바꿔가며 인공지능</a:t>
            </a:r>
            <a:r>
              <a:rPr lang="en-US" altLang="ko-KR" sz="800" dirty="0"/>
              <a:t>(</a:t>
            </a:r>
            <a:r>
              <a:rPr lang="en" altLang="ko-KR" sz="800" dirty="0"/>
              <a:t>Transformer)</a:t>
            </a:r>
            <a:r>
              <a:rPr lang="ko-KR" altLang="en-US" sz="800" dirty="0"/>
              <a:t>을 훈련시키고</a:t>
            </a:r>
            <a:r>
              <a:rPr lang="en-US" altLang="ko-KR" sz="800" dirty="0"/>
              <a:t>, </a:t>
            </a:r>
            <a:r>
              <a:rPr lang="ko-KR" altLang="en-US" sz="800" dirty="0"/>
              <a:t>모델의 내부에서 어떤 표현 구조가 만들어지는지 분석한다</a:t>
            </a:r>
            <a:r>
              <a:rPr lang="en-US" altLang="ko-KR" sz="800" dirty="0"/>
              <a:t>. </a:t>
            </a:r>
            <a:endParaRPr lang="ko-KR" altLang="en-US" sz="800" dirty="0"/>
          </a:p>
        </p:txBody>
      </p:sp>
      <p:sp>
        <p:nvSpPr>
          <p:cNvPr id="6" name="TextBox 5"/>
          <p:cNvSpPr txBox="1"/>
          <p:nvPr/>
        </p:nvSpPr>
        <p:spPr>
          <a:xfrm>
            <a:off x="4937344" y="1907609"/>
            <a:ext cx="1536192" cy="898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팀명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어텐션</a:t>
            </a:r>
            <a:endParaRPr lang="en-US" altLang="ko-KR" sz="1100" dirty="0"/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팀원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 err="1">
                <a:solidFill>
                  <a:srgbClr val="555F6E"/>
                </a:solidFill>
                <a:latin typeface="맑은 고딕"/>
                <a:ea typeface="맑은 고딕"/>
              </a:rPr>
              <a:t>김서혁</a:t>
            </a:r>
            <a:r>
              <a:rPr lang="en-US" altLang="ko-KR" sz="1100" dirty="0">
                <a:solidFill>
                  <a:srgbClr val="555F6E"/>
                </a:solidFill>
                <a:latin typeface="맑은 고딕"/>
                <a:ea typeface="맑은 고딕"/>
              </a:rPr>
              <a:t>,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 손영우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1" dirty="0" err="1">
                <a:solidFill>
                  <a:srgbClr val="1E2761"/>
                </a:solidFill>
                <a:latin typeface="맑은 고딕"/>
                <a:ea typeface="맑은 고딕"/>
              </a:rPr>
              <a:t>지도교사</a:t>
            </a:r>
            <a:r>
              <a:rPr sz="1100" b="1" dirty="0">
                <a:solidFill>
                  <a:srgbClr val="1E2761"/>
                </a:solidFill>
                <a:latin typeface="맑은 고딕"/>
                <a:ea typeface="맑은 고딕"/>
              </a:rPr>
              <a:t> : </a:t>
            </a:r>
            <a:r>
              <a:rPr lang="ko-KR" altLang="en-US" sz="1100" dirty="0">
                <a:solidFill>
                  <a:srgbClr val="555F6E"/>
                </a:solidFill>
                <a:latin typeface="맑은 고딕"/>
                <a:ea typeface="맑은 고딕"/>
              </a:rPr>
              <a:t>김준우</a:t>
            </a:r>
            <a:endParaRPr sz="1100" b="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361038"/>
            <a:ext cx="2847308" cy="5441607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① </a:t>
            </a:r>
            <a:r>
              <a:rPr sz="900" b="1" dirty="0" err="1">
                <a:solidFill>
                  <a:srgbClr val="1E2761"/>
                </a:solidFill>
                <a:latin typeface="맑은 고딕"/>
                <a:ea typeface="맑은 고딕"/>
              </a:rPr>
              <a:t>Grokking이란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?</a:t>
            </a:r>
            <a:endParaRPr lang="en-US" altLang="ko-KR" sz="9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ko-KR" altLang="ko-KR" sz="750" dirty="0"/>
              <a:t>신경망을 한정된 데이터로 계속 학습시키면 규칙을 익히는 대신 답을 암기하는 </a:t>
            </a:r>
            <a:r>
              <a:rPr lang="ko-KR" altLang="ko-KR" sz="750" dirty="0" err="1"/>
              <a:t>과적합</a:t>
            </a:r>
            <a:r>
              <a:rPr lang="ko-KR" altLang="ko-KR" sz="750" dirty="0"/>
              <a:t> 상태에 빠져, 훈련 문제는 모두 맞히지만 처음 보는 문제는 풀지 못한다.</a:t>
            </a:r>
            <a:r>
              <a:rPr lang="en-US" altLang="ko-KR" sz="750" dirty="0">
                <a:latin typeface="맑은 고딕"/>
                <a:ea typeface="맑은 고딕"/>
              </a:rPr>
              <a:t> </a:t>
            </a:r>
            <a:r>
              <a:rPr lang="ko-KR" altLang="en-US" sz="750" dirty="0">
                <a:latin typeface="맑은 고딕"/>
                <a:ea typeface="맑은 고딕"/>
              </a:rPr>
              <a:t>그러나 이 시점 이후에도 훈련을 계속하면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특정 조건에서 검증 정확도가 갑자기 상승하며 규칙 자체를 학습하는 현상이 나타난다</a:t>
            </a:r>
            <a:r>
              <a:rPr lang="en-US" altLang="ko-KR" sz="750" dirty="0">
                <a:latin typeface="맑은 고딕"/>
                <a:ea typeface="맑은 고딕"/>
              </a:rPr>
              <a:t>. </a:t>
            </a:r>
            <a:r>
              <a:rPr lang="ko-KR" altLang="en-US" sz="750" dirty="0">
                <a:latin typeface="맑은 고딕"/>
                <a:ea typeface="맑은 고딕"/>
              </a:rPr>
              <a:t>이러한 지연된 일반화 현상을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이라 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5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600" dirty="0"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r>
              <a:rPr lang="ko-KR" altLang="ko-KR" sz="500" dirty="0"/>
              <a:t>Google PAIR, "</a:t>
            </a:r>
            <a:r>
              <a:rPr lang="ko-KR" altLang="ko-KR" sz="500" dirty="0" err="1"/>
              <a:t>Do</a:t>
            </a:r>
            <a:r>
              <a:rPr lang="ko-KR" altLang="ko-KR" sz="500" dirty="0"/>
              <a:t> </a:t>
            </a:r>
            <a:r>
              <a:rPr lang="ko-KR" altLang="ko-KR" sz="500" dirty="0" err="1"/>
              <a:t>Machine</a:t>
            </a:r>
            <a:r>
              <a:rPr lang="ko-KR" altLang="ko-KR" sz="500" dirty="0"/>
              <a:t> </a:t>
            </a:r>
            <a:r>
              <a:rPr lang="ko-KR" altLang="ko-KR" sz="500" dirty="0" err="1"/>
              <a:t>Learning</a:t>
            </a:r>
            <a:r>
              <a:rPr lang="ko-KR" altLang="ko-KR" sz="500" dirty="0"/>
              <a:t> </a:t>
            </a:r>
            <a:r>
              <a:rPr lang="ko-KR" altLang="ko-KR" sz="500" dirty="0" err="1"/>
              <a:t>Models</a:t>
            </a:r>
            <a:r>
              <a:rPr lang="ko-KR" altLang="ko-KR" sz="500" dirty="0"/>
              <a:t> </a:t>
            </a:r>
            <a:r>
              <a:rPr lang="ko-KR" altLang="ko-KR" sz="500" dirty="0" err="1"/>
              <a:t>Memorize</a:t>
            </a:r>
            <a:r>
              <a:rPr lang="ko-KR" altLang="ko-KR" sz="500" dirty="0"/>
              <a:t> </a:t>
            </a:r>
            <a:r>
              <a:rPr lang="ko-KR" altLang="ko-KR" sz="500" dirty="0" err="1"/>
              <a:t>or</a:t>
            </a:r>
            <a:r>
              <a:rPr lang="ko-KR" altLang="ko-KR" sz="500" dirty="0"/>
              <a:t> </a:t>
            </a:r>
            <a:r>
              <a:rPr lang="ko-KR" altLang="ko-KR" sz="500" dirty="0" err="1"/>
              <a:t>Generalize</a:t>
            </a:r>
            <a:r>
              <a:rPr lang="ko-KR" altLang="ko-KR" sz="500" dirty="0"/>
              <a:t>?" (2023)</a:t>
            </a:r>
            <a:endParaRPr lang="en-US" altLang="ko-KR" sz="500" dirty="0">
              <a:solidFill>
                <a:srgbClr val="555F6E"/>
              </a:solidFill>
              <a:latin typeface="맑은 고딕"/>
              <a:ea typeface="맑은 고딕"/>
            </a:endParaRPr>
          </a:p>
          <a:p>
            <a:pPr algn="r">
              <a:lnSpc>
                <a:spcPct val="120000"/>
              </a:lnSpc>
              <a:spcAft>
                <a:spcPts val="14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기존 연구와의 차별성 및 독창성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ko-KR" altLang="en-US" sz="750" dirty="0"/>
              <a:t>기존 </a:t>
            </a:r>
            <a:r>
              <a:rPr lang="en" altLang="ko-KR" sz="750" dirty="0"/>
              <a:t>Grokking </a:t>
            </a:r>
            <a:r>
              <a:rPr lang="ko-KR" altLang="en-US" sz="750" dirty="0"/>
              <a:t>연구는 두 정수를 연산한 결과를 하나의 답으로 예측하는 나머지 연산 문제에 집중되어 왔으나</a:t>
            </a:r>
            <a:r>
              <a:rPr lang="en-US" altLang="ko-KR" sz="750" dirty="0"/>
              <a:t>,</a:t>
            </a:r>
            <a:r>
              <a:rPr lang="ko-KR" altLang="en-US" sz="750" dirty="0"/>
              <a:t> </a:t>
            </a:r>
            <a:r>
              <a:rPr lang="en-US" altLang="ko-KR" sz="750" dirty="0"/>
              <a:t>(3, 1, 4, 1, 5) → (1, 1, 3, 4, 5)</a:t>
            </a:r>
            <a:r>
              <a:rPr lang="ko-KR" altLang="en-US" sz="750" dirty="0"/>
              <a:t>와 같이 입출력 전체가 수열인 과제에서 </a:t>
            </a:r>
            <a:r>
              <a:rPr lang="en" altLang="ko-KR" sz="750" dirty="0"/>
              <a:t>Grokking</a:t>
            </a:r>
            <a:r>
              <a:rPr lang="ko-KR" altLang="en-US" sz="750" dirty="0"/>
              <a:t>이 발생하는지는 아직 규명되지 않았다</a:t>
            </a:r>
            <a:r>
              <a:rPr lang="en-US" altLang="ko-KR" sz="750" dirty="0"/>
              <a:t>. </a:t>
            </a:r>
            <a:r>
              <a:rPr lang="ko-KR" altLang="en-US" sz="750" dirty="0"/>
              <a:t>수열 정렬은 원소 간 비교와 자리 배치라는 성격을 가지기에</a:t>
            </a:r>
            <a:r>
              <a:rPr lang="en-US" altLang="ko-KR" sz="750" dirty="0"/>
              <a:t>, </a:t>
            </a:r>
            <a:r>
              <a:rPr lang="ko-KR" altLang="en-US" sz="750" dirty="0"/>
              <a:t>출력 수열 전체에 걸쳐 일관성이 유지되어야 하므로 단일 답 예측과는 본질적으로 다르다</a:t>
            </a:r>
            <a:r>
              <a:rPr lang="en-US" altLang="ko-KR" sz="750" dirty="0"/>
              <a:t>. </a:t>
            </a:r>
            <a:r>
              <a:rPr lang="ko-KR" altLang="en-US" sz="750" dirty="0"/>
              <a:t>본 연구에서는 정렬 과제를 대상으로 </a:t>
            </a:r>
            <a:r>
              <a:rPr lang="en" altLang="ko-KR" sz="750" dirty="0"/>
              <a:t>Grokking</a:t>
            </a:r>
            <a:r>
              <a:rPr lang="ko-KR" altLang="en-US" sz="750" dirty="0"/>
              <a:t>의 발현 여부를 검증하고</a:t>
            </a:r>
            <a:r>
              <a:rPr lang="en-US" altLang="ko-KR" sz="750" dirty="0"/>
              <a:t>, </a:t>
            </a:r>
            <a:r>
              <a:rPr lang="ko-KR" altLang="en-US" sz="750" dirty="0"/>
              <a:t>그 내부 구조를 분석하는 것을 목표로 한다</a:t>
            </a:r>
            <a:r>
              <a:rPr lang="en-US" altLang="ko-KR" sz="750" dirty="0"/>
              <a:t>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400" dirty="0"/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③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연구문제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1]</a:t>
            </a:r>
            <a:r>
              <a:rPr lang="ko-KR" altLang="en-US" sz="750" dirty="0">
                <a:latin typeface="맑은 고딕"/>
                <a:ea typeface="맑은 고딕"/>
              </a:rPr>
              <a:t> 정렬 과제에서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발현되는가</a:t>
            </a:r>
            <a:r>
              <a:rPr lang="en-US" altLang="ko-KR" sz="750" dirty="0">
                <a:latin typeface="맑은 고딕"/>
                <a:ea typeface="맑은 고딕"/>
              </a:rPr>
              <a:t>? </a:t>
            </a:r>
            <a:r>
              <a:rPr lang="ko-KR" altLang="en-US" sz="750" dirty="0">
                <a:latin typeface="맑은 고딕"/>
                <a:ea typeface="맑은 고딕"/>
              </a:rPr>
              <a:t>정렬 규칙에 따라 발현 여부와 발현 시점이 어떻게 달라지는가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3540243" y="3399773"/>
            <a:ext cx="2894203" cy="540455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2]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내부 표현은 어떤 구조를 가지는가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750" b="1" dirty="0">
                <a:latin typeface="맑은 고딕"/>
                <a:ea typeface="맑은 고딕"/>
              </a:rPr>
              <a:t>[</a:t>
            </a:r>
            <a:r>
              <a:rPr lang="ko-KR" altLang="en-US" sz="750" b="1" dirty="0">
                <a:latin typeface="맑은 고딕"/>
                <a:ea typeface="맑은 고딕"/>
              </a:rPr>
              <a:t>연구 문제 </a:t>
            </a:r>
            <a:r>
              <a:rPr lang="en-US" altLang="ko-KR" sz="750" b="1" dirty="0">
                <a:latin typeface="맑은 고딕"/>
                <a:ea typeface="맑은 고딕"/>
              </a:rPr>
              <a:t>3] </a:t>
            </a:r>
            <a:r>
              <a:rPr lang="en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출력 수열 전체에서 한 번에 일어나는가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정렬 규칙이 만드는 출력 그룹 단위로 나뉘어 일어나는가</a:t>
            </a:r>
            <a:r>
              <a:rPr lang="en-US" altLang="ko-KR" sz="750" dirty="0">
                <a:latin typeface="맑은 고딕"/>
                <a:ea typeface="맑은 고딕"/>
              </a:rPr>
              <a:t>?</a:t>
            </a:r>
            <a:endParaRPr lang="en-US" altLang="ko-KR" sz="75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lang="en-US" altLang="ko-KR" sz="1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900" b="1" dirty="0">
                <a:solidFill>
                  <a:srgbClr val="1E2761"/>
                </a:solidFill>
                <a:latin typeface="맑은 고딕"/>
                <a:ea typeface="맑은 고딕"/>
              </a:rPr>
              <a:t>④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실험설계</a:t>
            </a:r>
            <a:endParaRPr lang="en-US" altLang="ko-KR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en-US" sz="750" dirty="0"/>
              <a:t>정렬 규칙을 서로 독립적인 두 축의 조합으로 설계한다</a:t>
            </a:r>
            <a:r>
              <a:rPr lang="en-US" altLang="ko-KR" sz="750" dirty="0"/>
              <a:t>.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정렬 키 축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항등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오름차순</a:t>
            </a:r>
            <a:r>
              <a:rPr lang="en-US" altLang="ko-KR" sz="750" dirty="0">
                <a:latin typeface="맑은 고딕"/>
                <a:ea typeface="맑은 고딕"/>
              </a:rPr>
              <a:t>) /</a:t>
            </a:r>
            <a:r>
              <a:rPr lang="ko-KR" altLang="en-US" sz="750" dirty="0">
                <a:latin typeface="맑은 고딕"/>
                <a:ea typeface="맑은 고딕"/>
              </a:rPr>
              <a:t> 주기</a:t>
            </a:r>
            <a:r>
              <a:rPr lang="en-US" altLang="ko-KR" sz="750" dirty="0">
                <a:latin typeface="맑은 고딕"/>
                <a:ea typeface="맑은 고딕"/>
              </a:rPr>
              <a:t>(mod</a:t>
            </a:r>
            <a:r>
              <a:rPr lang="ko-KR" altLang="en-US" sz="750" dirty="0">
                <a:latin typeface="맑은 고딕"/>
                <a:ea typeface="맑은 고딕"/>
              </a:rPr>
              <a:t> 기반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r>
              <a:rPr lang="ko-KR" altLang="en-US" sz="750" b="1" dirty="0">
                <a:latin typeface="맑은 고딕"/>
                <a:ea typeface="맑은 고딕"/>
              </a:rPr>
              <a:t>매핑 축     </a:t>
            </a:r>
            <a:r>
              <a:rPr lang="en-US" altLang="ko-KR" sz="750" dirty="0">
                <a:latin typeface="맑은 고딕"/>
                <a:ea typeface="맑은 고딕"/>
              </a:rPr>
              <a:t>-</a:t>
            </a:r>
            <a:r>
              <a:rPr lang="ko-KR" altLang="en-US" sz="750" dirty="0">
                <a:latin typeface="맑은 고딕"/>
                <a:ea typeface="맑은 고딕"/>
              </a:rPr>
              <a:t> 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순서대로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en-US" altLang="ko-KR" sz="750" dirty="0">
                <a:latin typeface="맑은 고딕"/>
                <a:ea typeface="맑은 고딕"/>
              </a:rPr>
              <a:t>/</a:t>
            </a:r>
            <a:r>
              <a:rPr lang="ko-KR" altLang="en-US" sz="750" dirty="0">
                <a:latin typeface="맑은 고딕"/>
                <a:ea typeface="맑은 고딕"/>
              </a:rPr>
              <a:t> </a:t>
            </a:r>
            <a:r>
              <a:rPr lang="ko-KR" altLang="en-US" sz="750" dirty="0" err="1">
                <a:latin typeface="맑은 고딕"/>
                <a:ea typeface="맑은 고딕"/>
              </a:rPr>
              <a:t>비단조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교번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300"/>
              </a:spcAft>
            </a:pPr>
            <a:endParaRPr lang="en-US" altLang="ko-KR" sz="11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11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endParaRPr lang="en-US" altLang="ko-KR" sz="1100" dirty="0"/>
          </a:p>
          <a:p>
            <a:pPr algn="l">
              <a:spcAft>
                <a:spcPts val="300"/>
              </a:spcAft>
            </a:pPr>
            <a:endParaRPr lang="en-US" altLang="ko-KR" sz="1100" dirty="0"/>
          </a:p>
          <a:p>
            <a:pPr>
              <a:spcAft>
                <a:spcPts val="300"/>
              </a:spcAft>
            </a:pPr>
            <a:endParaRPr lang="en-US" sz="900" b="1" dirty="0">
              <a:solidFill>
                <a:srgbClr val="1E2761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ko-KR" altLang="ko-KR" sz="900" b="1" dirty="0">
                <a:solidFill>
                  <a:srgbClr val="1E2760"/>
                </a:solidFill>
              </a:rPr>
              <a:t>⑤</a:t>
            </a:r>
            <a:r>
              <a:rPr sz="900" b="1" dirty="0">
                <a:solidFill>
                  <a:srgbClr val="1E2761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1" dirty="0">
                <a:solidFill>
                  <a:srgbClr val="1E2761"/>
                </a:solidFill>
                <a:latin typeface="맑은 고딕"/>
                <a:ea typeface="맑은 고딕"/>
              </a:rPr>
              <a:t>연구방법</a:t>
            </a:r>
            <a:endParaRPr lang="en-US" altLang="ko-KR" sz="900" b="1" dirty="0">
              <a:solidFill>
                <a:srgbClr val="1E2760"/>
              </a:solidFill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1) Grokking </a:t>
            </a:r>
            <a:r>
              <a:rPr lang="ko-KR" altLang="en-US" sz="750" dirty="0">
                <a:latin typeface="맑은 고딕"/>
                <a:ea typeface="맑은 고딕"/>
              </a:rPr>
              <a:t>여부 확인 </a:t>
            </a:r>
            <a:r>
              <a:rPr lang="en-US" altLang="ko-KR" sz="750" dirty="0">
                <a:latin typeface="맑은 고딕"/>
                <a:ea typeface="맑은 고딕"/>
              </a:rPr>
              <a:t>–</a:t>
            </a:r>
            <a:r>
              <a:rPr lang="ko-KR" altLang="en-US" sz="750" dirty="0">
                <a:latin typeface="맑은 고딕"/>
                <a:ea typeface="맑은 고딕"/>
              </a:rPr>
              <a:t> 주어진 수열의 최댓값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최솟값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중앙값을 출력하는 </a:t>
            </a:r>
            <a:r>
              <a:rPr lang="en-US" altLang="ko-KR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>
                <a:latin typeface="맑은 고딕"/>
                <a:ea typeface="맑은 고딕"/>
              </a:rPr>
              <a:t>에서 </a:t>
            </a:r>
            <a:r>
              <a:rPr lang="en-US" altLang="ko-KR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발생하는지 관찰한다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2) </a:t>
            </a:r>
            <a:r>
              <a:rPr lang="ko-KR" altLang="en-US" sz="750" dirty="0">
                <a:latin typeface="맑은 고딕"/>
                <a:ea typeface="맑은 고딕"/>
              </a:rPr>
              <a:t>학습 곡선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ko-KR" altLang="en-US" sz="750" dirty="0">
                <a:latin typeface="맑은 고딕"/>
                <a:ea typeface="맑은 고딕"/>
              </a:rPr>
              <a:t>각 정렬 기준에 대해 소규모 </a:t>
            </a:r>
            <a:r>
              <a:rPr lang="en" sz="750" dirty="0">
                <a:latin typeface="맑은 고딕"/>
                <a:ea typeface="맑은 고딕"/>
              </a:rPr>
              <a:t>Transformer</a:t>
            </a:r>
            <a:r>
              <a:rPr lang="ko-KR" altLang="en-US" sz="750" dirty="0" err="1">
                <a:latin typeface="맑은 고딕"/>
                <a:ea typeface="맑은 고딕"/>
              </a:rPr>
              <a:t>를</a:t>
            </a:r>
            <a:r>
              <a:rPr lang="ko-KR" altLang="en-US" sz="750" dirty="0">
                <a:latin typeface="맑은 고딕"/>
                <a:ea typeface="맑은 고딕"/>
              </a:rPr>
              <a:t> 동일 조건에서 훈련하고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en" sz="750" dirty="0">
                <a:latin typeface="맑은 고딕"/>
                <a:ea typeface="맑은 고딕"/>
              </a:rPr>
              <a:t>Grokking gap</a:t>
            </a:r>
            <a:r>
              <a:rPr lang="ko-KR" altLang="en-US" sz="750" dirty="0">
                <a:latin typeface="맑은 고딕"/>
                <a:ea typeface="맑은 고딕"/>
              </a:rPr>
              <a:t>을 측정한다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3) </a:t>
            </a:r>
            <a:r>
              <a:rPr lang="ko-KR" altLang="en-US" sz="750" dirty="0">
                <a:latin typeface="맑은 고딕"/>
                <a:ea typeface="맑은 고딕"/>
              </a:rPr>
              <a:t>내부 표현 분석 </a:t>
            </a:r>
            <a:r>
              <a:rPr lang="en-US" altLang="ko-KR" sz="750" dirty="0">
                <a:latin typeface="맑은 고딕"/>
                <a:ea typeface="맑은 고딕"/>
              </a:rPr>
              <a:t>- </a:t>
            </a:r>
            <a:r>
              <a:rPr lang="en" sz="750" dirty="0">
                <a:latin typeface="맑은 고딕"/>
                <a:ea typeface="맑은 고딕"/>
              </a:rPr>
              <a:t>Grokking</a:t>
            </a:r>
            <a:r>
              <a:rPr lang="ko-KR" altLang="en-US" sz="750" dirty="0">
                <a:latin typeface="맑은 고딕"/>
                <a:ea typeface="맑은 고딕"/>
              </a:rPr>
              <a:t>이 완료된 모델의 </a:t>
            </a:r>
            <a:r>
              <a:rPr lang="en" sz="750" dirty="0">
                <a:latin typeface="맑은 고딕"/>
                <a:ea typeface="맑은 고딕"/>
              </a:rPr>
              <a:t>embedding </a:t>
            </a:r>
            <a:r>
              <a:rPr lang="ko-KR" altLang="en-US" sz="750" dirty="0">
                <a:latin typeface="맑은 고딕"/>
                <a:ea typeface="맑은 고딕"/>
              </a:rPr>
              <a:t>행렬에 차원 축소 기법을 적용하여 표현에 필요한 유효 차원 수를 측정하고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값의 크기 순 배열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잉여류별 군집 구조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주기적 구조 등 </a:t>
            </a:r>
            <a:r>
              <a:rPr lang="ko-KR" altLang="en-US" sz="750" dirty="0" err="1">
                <a:latin typeface="맑은 고딕"/>
                <a:ea typeface="맑은 고딕"/>
              </a:rPr>
              <a:t>의미있는</a:t>
            </a:r>
            <a:r>
              <a:rPr lang="ko-KR" altLang="en-US" sz="750" dirty="0">
                <a:latin typeface="맑은 고딕"/>
                <a:ea typeface="맑은 고딕"/>
              </a:rPr>
              <a:t> 수학적 구조가 실제로 형성되는지 확인한다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r>
              <a:rPr lang="en-US" altLang="ko-KR" sz="750" dirty="0">
                <a:latin typeface="맑은 고딕"/>
                <a:ea typeface="맑은 고딕"/>
              </a:rPr>
              <a:t>4) </a:t>
            </a:r>
            <a:r>
              <a:rPr lang="ko-KR" altLang="en-US" sz="750" dirty="0">
                <a:latin typeface="맑은 고딕"/>
                <a:ea typeface="맑은 고딕"/>
              </a:rPr>
              <a:t>출력 연속성 분석 </a:t>
            </a:r>
            <a:r>
              <a:rPr lang="en-US" altLang="ko-KR" sz="750" dirty="0">
                <a:latin typeface="맑은 고딕"/>
                <a:ea typeface="맑은 고딕"/>
              </a:rPr>
              <a:t>–</a:t>
            </a:r>
            <a:r>
              <a:rPr lang="ko-KR" altLang="en-US" sz="750" dirty="0">
                <a:latin typeface="맑은 고딕"/>
                <a:ea typeface="맑은 고딕"/>
              </a:rPr>
              <a:t> 정렬 기준이 만드는 의미 단위</a:t>
            </a:r>
            <a:r>
              <a:rPr lang="en-US" altLang="ko-KR" sz="750" dirty="0">
                <a:latin typeface="맑은 고딕"/>
                <a:ea typeface="맑은 고딕"/>
              </a:rPr>
              <a:t>(</a:t>
            </a:r>
            <a:r>
              <a:rPr lang="ko-KR" altLang="en-US" sz="750" dirty="0">
                <a:latin typeface="맑은 고딕"/>
                <a:ea typeface="맑은 고딕"/>
              </a:rPr>
              <a:t>나머지 블록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최솟값</a:t>
            </a:r>
            <a:r>
              <a:rPr lang="en-US" altLang="ko-KR" sz="750" dirty="0">
                <a:latin typeface="맑은 고딕"/>
                <a:ea typeface="맑은 고딕"/>
              </a:rPr>
              <a:t>·</a:t>
            </a:r>
            <a:r>
              <a:rPr lang="ko-KR" altLang="en-US" sz="750" dirty="0">
                <a:latin typeface="맑은 고딕"/>
                <a:ea typeface="맑은 고딕"/>
              </a:rPr>
              <a:t>최댓값 계열 자리</a:t>
            </a:r>
            <a:r>
              <a:rPr lang="en-US" altLang="ko-KR" sz="750" dirty="0">
                <a:latin typeface="맑은 고딕"/>
                <a:ea typeface="맑은 고딕"/>
              </a:rPr>
              <a:t>)</a:t>
            </a:r>
            <a:r>
              <a:rPr lang="ko-KR" altLang="en-US" sz="750" dirty="0">
                <a:latin typeface="맑은 고딕"/>
                <a:ea typeface="맑은 고딕"/>
              </a:rPr>
              <a:t>로 출력 위치를 묶어 그룹별 정확도 곡선을 기록하고</a:t>
            </a:r>
            <a:r>
              <a:rPr lang="en-US" altLang="ko-KR" sz="750" dirty="0">
                <a:latin typeface="맑은 고딕"/>
                <a:ea typeface="맑은 고딕"/>
              </a:rPr>
              <a:t>, </a:t>
            </a:r>
            <a:r>
              <a:rPr lang="ko-KR" altLang="en-US" sz="750" dirty="0">
                <a:latin typeface="맑은 고딕"/>
                <a:ea typeface="맑은 고딕"/>
              </a:rPr>
              <a:t>전체가 동시에 급상승하는지 특정 그룹부터 차례로 상승하는지 판별한다</a:t>
            </a:r>
            <a:r>
              <a:rPr lang="en-US" altLang="ko-KR" sz="750" dirty="0">
                <a:latin typeface="맑은 고딕"/>
                <a:ea typeface="맑은 고딕"/>
              </a:rPr>
              <a:t>.</a:t>
            </a:r>
          </a:p>
          <a:p>
            <a:pPr>
              <a:spcAft>
                <a:spcPts val="300"/>
              </a:spcAft>
            </a:pPr>
            <a:endParaRPr lang="en-US" altLang="ko-KR" sz="7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5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20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750" dirty="0">
              <a:latin typeface="맑은 고딕"/>
              <a:ea typeface="맑은 고딕"/>
            </a:endParaRPr>
          </a:p>
          <a:p>
            <a:pPr>
              <a:spcAft>
                <a:spcPts val="300"/>
              </a:spcAft>
            </a:pPr>
            <a:endParaRPr lang="en-US" altLang="ko-KR" sz="300" dirty="0">
              <a:latin typeface="맑은 고딕"/>
              <a:ea typeface="맑은 고딕"/>
            </a:endParaRPr>
          </a:p>
          <a:p>
            <a:pPr algn="r">
              <a:spcAft>
                <a:spcPts val="300"/>
              </a:spcAft>
            </a:pPr>
            <a:r>
              <a:rPr lang="en" altLang="ko-KR" sz="550" dirty="0"/>
              <a:t>Liu et al., "Towards Understanding Grokking: An Effective Theory of</a:t>
            </a:r>
            <a:r>
              <a:rPr lang="ko-KR" altLang="en-US" sz="550" dirty="0"/>
              <a:t> </a:t>
            </a:r>
            <a:r>
              <a:rPr lang="en" altLang="ko-KR" sz="550" dirty="0"/>
              <a:t>Representation Learning"</a:t>
            </a:r>
            <a:r>
              <a:rPr lang="ko-KR" altLang="en-US" sz="550" dirty="0"/>
              <a:t> </a:t>
            </a:r>
            <a:r>
              <a:rPr lang="en-US" altLang="ko-KR" sz="550" dirty="0"/>
              <a:t>(</a:t>
            </a:r>
            <a:r>
              <a:rPr lang="en" altLang="ko-KR" sz="550" dirty="0"/>
              <a:t>2022</a:t>
            </a:r>
            <a:r>
              <a:rPr lang="en-US" altLang="ko-KR" sz="550" dirty="0"/>
              <a:t>)</a:t>
            </a:r>
            <a:endParaRPr lang="en-US" altLang="ko-KR" sz="550" dirty="0">
              <a:solidFill>
                <a:srgbClr val="555F6E"/>
              </a:solidFill>
              <a:latin typeface="맑은 고딕"/>
              <a:ea typeface="맑은 고딕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71619D2-161A-101A-4108-BFD047F28FA5}"/>
              </a:ext>
            </a:extLst>
          </p:cNvPr>
          <p:cNvGrpSpPr/>
          <p:nvPr/>
        </p:nvGrpSpPr>
        <p:grpSpPr>
          <a:xfrm>
            <a:off x="3250988" y="4732149"/>
            <a:ext cx="3445960" cy="1014932"/>
            <a:chOff x="3245530" y="4163296"/>
            <a:chExt cx="3445960" cy="10149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7E26A74-E939-1C8E-9048-6115BBF41870}"/>
                </a:ext>
              </a:extLst>
            </p:cNvPr>
            <p:cNvSpPr txBox="1"/>
            <p:nvPr/>
          </p:nvSpPr>
          <p:spPr>
            <a:xfrm>
              <a:off x="4546617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5E1BC5-5795-2356-5872-90FAC30D9585}"/>
                </a:ext>
              </a:extLst>
            </p:cNvPr>
            <p:cNvSpPr txBox="1"/>
            <p:nvPr/>
          </p:nvSpPr>
          <p:spPr>
            <a:xfrm>
              <a:off x="4723402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BCF0E5-B5C2-67D1-8D32-30608C47DBB1}"/>
                </a:ext>
              </a:extLst>
            </p:cNvPr>
            <p:cNvSpPr txBox="1"/>
            <p:nvPr/>
          </p:nvSpPr>
          <p:spPr>
            <a:xfrm>
              <a:off x="4900185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C29ADD5-A220-15C3-32B1-C169F3A90F21}"/>
                </a:ext>
              </a:extLst>
            </p:cNvPr>
            <p:cNvSpPr txBox="1"/>
            <p:nvPr/>
          </p:nvSpPr>
          <p:spPr>
            <a:xfrm>
              <a:off x="5076969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>
                  <a:solidFill>
                    <a:srgbClr val="777777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C9C66B9-F41B-A24F-B5CA-81CE8CC2E165}"/>
                </a:ext>
              </a:extLst>
            </p:cNvPr>
            <p:cNvSpPr txBox="1"/>
            <p:nvPr/>
          </p:nvSpPr>
          <p:spPr>
            <a:xfrm>
              <a:off x="5253753" y="4993562"/>
              <a:ext cx="152400" cy="18466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6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2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AEC1D905-755D-8F55-9CE2-46BC766D8A10}"/>
                </a:ext>
              </a:extLst>
            </p:cNvPr>
            <p:cNvGrpSpPr/>
            <p:nvPr/>
          </p:nvGrpSpPr>
          <p:grpSpPr>
            <a:xfrm>
              <a:off x="3245530" y="4163296"/>
              <a:ext cx="3445960" cy="860157"/>
              <a:chOff x="3245530" y="4163296"/>
              <a:chExt cx="3445960" cy="86015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254F8B2-E2DB-2D57-7824-BB0EDD71D88C}"/>
                  </a:ext>
                </a:extLst>
              </p:cNvPr>
              <p:cNvSpPr txBox="1"/>
              <p:nvPr/>
            </p:nvSpPr>
            <p:spPr>
              <a:xfrm>
                <a:off x="4363884" y="4163296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입력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수열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</a:t>
                </a:r>
                <a:r>
                  <a:rPr lang="ko-KR" altLang="en-US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순서 랜덤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)</a:t>
                </a:r>
              </a:p>
            </p:txBody>
          </p:sp>
          <p:sp>
            <p:nvSpPr>
              <p:cNvPr id="37" name="Rectangle 3">
                <a:extLst>
                  <a:ext uri="{FF2B5EF4-FFF2-40B4-BE49-F238E27FC236}">
                    <a16:creationId xmlns:a16="http://schemas.microsoft.com/office/drawing/2014/main" id="{9A6E1F78-0EE2-49E3-E983-72A57441E4EA}"/>
                  </a:ext>
                </a:extLst>
              </p:cNvPr>
              <p:cNvSpPr/>
              <p:nvPr/>
            </p:nvSpPr>
            <p:spPr>
              <a:xfrm>
                <a:off x="4546617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38" name="Rectangle 4">
                <a:extLst>
                  <a:ext uri="{FF2B5EF4-FFF2-40B4-BE49-F238E27FC236}">
                    <a16:creationId xmlns:a16="http://schemas.microsoft.com/office/drawing/2014/main" id="{396DE008-8E8B-F9E0-A20F-E8ABC14E70E2}"/>
                  </a:ext>
                </a:extLst>
              </p:cNvPr>
              <p:cNvSpPr/>
              <p:nvPr/>
            </p:nvSpPr>
            <p:spPr>
              <a:xfrm>
                <a:off x="4723402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39" name="Rectangle 5">
                <a:extLst>
                  <a:ext uri="{FF2B5EF4-FFF2-40B4-BE49-F238E27FC236}">
                    <a16:creationId xmlns:a16="http://schemas.microsoft.com/office/drawing/2014/main" id="{7CCDB098-877F-BD88-898D-2C1CC8FFB7C9}"/>
                  </a:ext>
                </a:extLst>
              </p:cNvPr>
              <p:cNvSpPr/>
              <p:nvPr/>
            </p:nvSpPr>
            <p:spPr>
              <a:xfrm>
                <a:off x="4900185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AADD7C06-939C-E566-59A7-F75ECB908A28}"/>
                  </a:ext>
                </a:extLst>
              </p:cNvPr>
              <p:cNvSpPr/>
              <p:nvPr/>
            </p:nvSpPr>
            <p:spPr>
              <a:xfrm>
                <a:off x="5076969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1" name="Rectangle 7">
                <a:extLst>
                  <a:ext uri="{FF2B5EF4-FFF2-40B4-BE49-F238E27FC236}">
                    <a16:creationId xmlns:a16="http://schemas.microsoft.com/office/drawing/2014/main" id="{5993AA03-CEF1-14EC-5E70-534424E88481}"/>
                  </a:ext>
                </a:extLst>
              </p:cNvPr>
              <p:cNvSpPr/>
              <p:nvPr/>
            </p:nvSpPr>
            <p:spPr>
              <a:xfrm>
                <a:off x="5253753" y="43330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2" name="Connector 8">
                <a:extLst>
                  <a:ext uri="{FF2B5EF4-FFF2-40B4-BE49-F238E27FC236}">
                    <a16:creationId xmlns:a16="http://schemas.microsoft.com/office/drawing/2014/main" id="{15F7A10F-9DD1-CEA6-BB41-D41215BE84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05762" y="4510194"/>
                <a:ext cx="1068594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1060F0-77DB-DBC0-3477-BF10644305BB}"/>
                  </a:ext>
                </a:extLst>
              </p:cNvPr>
              <p:cNvSpPr txBox="1"/>
              <p:nvPr/>
            </p:nvSpPr>
            <p:spPr>
              <a:xfrm>
                <a:off x="3245530" y="4706778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A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오름차순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44" name="Rectangle 10">
                <a:extLst>
                  <a:ext uri="{FF2B5EF4-FFF2-40B4-BE49-F238E27FC236}">
                    <a16:creationId xmlns:a16="http://schemas.microsoft.com/office/drawing/2014/main" id="{6328C051-61EE-3B83-86D9-9064F54AC4B2}"/>
                  </a:ext>
                </a:extLst>
              </p:cNvPr>
              <p:cNvSpPr/>
              <p:nvPr/>
            </p:nvSpPr>
            <p:spPr>
              <a:xfrm>
                <a:off x="3461086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5" name="Rectangle 11">
                <a:extLst>
                  <a:ext uri="{FF2B5EF4-FFF2-40B4-BE49-F238E27FC236}">
                    <a16:creationId xmlns:a16="http://schemas.microsoft.com/office/drawing/2014/main" id="{2599D488-F670-9781-AAC4-18D9039DD856}"/>
                  </a:ext>
                </a:extLst>
              </p:cNvPr>
              <p:cNvSpPr/>
              <p:nvPr/>
            </p:nvSpPr>
            <p:spPr>
              <a:xfrm>
                <a:off x="3637870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46" name="Rectangle 12">
                <a:extLst>
                  <a:ext uri="{FF2B5EF4-FFF2-40B4-BE49-F238E27FC236}">
                    <a16:creationId xmlns:a16="http://schemas.microsoft.com/office/drawing/2014/main" id="{4C40E51C-67B3-EBEA-3AD3-94CFD50BB310}"/>
                  </a:ext>
                </a:extLst>
              </p:cNvPr>
              <p:cNvSpPr/>
              <p:nvPr/>
            </p:nvSpPr>
            <p:spPr>
              <a:xfrm>
                <a:off x="3814654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47" name="Rectangle 13">
                <a:extLst>
                  <a:ext uri="{FF2B5EF4-FFF2-40B4-BE49-F238E27FC236}">
                    <a16:creationId xmlns:a16="http://schemas.microsoft.com/office/drawing/2014/main" id="{7AE4DC3D-49EE-8594-55E3-F5EF922F4994}"/>
                  </a:ext>
                </a:extLst>
              </p:cNvPr>
              <p:cNvSpPr/>
              <p:nvPr/>
            </p:nvSpPr>
            <p:spPr>
              <a:xfrm>
                <a:off x="3991438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48" name="Rectangle 14">
                <a:extLst>
                  <a:ext uri="{FF2B5EF4-FFF2-40B4-BE49-F238E27FC236}">
                    <a16:creationId xmlns:a16="http://schemas.microsoft.com/office/drawing/2014/main" id="{AB929C1B-46D5-986F-9C41-7A21F3A28E1F}"/>
                  </a:ext>
                </a:extLst>
              </p:cNvPr>
              <p:cNvSpPr/>
              <p:nvPr/>
            </p:nvSpPr>
            <p:spPr>
              <a:xfrm>
                <a:off x="4168222" y="4866458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49" name="Connector 16">
                <a:extLst>
                  <a:ext uri="{FF2B5EF4-FFF2-40B4-BE49-F238E27FC236}">
                    <a16:creationId xmlns:a16="http://schemas.microsoft.com/office/drawing/2014/main" id="{D49AB154-429B-8940-AC55-55C0D4638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6385" y="4510194"/>
                <a:ext cx="0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16A07C4-0B9B-82FA-D664-DD64444B7017}"/>
                  </a:ext>
                </a:extLst>
              </p:cNvPr>
              <p:cNvSpPr txBox="1"/>
              <p:nvPr/>
            </p:nvSpPr>
            <p:spPr>
              <a:xfrm>
                <a:off x="4286786" y="4706778"/>
                <a:ext cx="1420952" cy="169277"/>
              </a:xfrm>
              <a:prstGeom prst="rect">
                <a:avLst/>
              </a:prstGeom>
              <a:noFill/>
            </p:spPr>
            <p:txBody>
              <a:bodyPr wrap="square" lIns="0" rIns="0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B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잉여류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기반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(mod 3)</a:t>
                </a:r>
              </a:p>
            </p:txBody>
          </p:sp>
          <p:sp>
            <p:nvSpPr>
              <p:cNvPr id="51" name="Rectangle 18">
                <a:extLst>
                  <a:ext uri="{FF2B5EF4-FFF2-40B4-BE49-F238E27FC236}">
                    <a16:creationId xmlns:a16="http://schemas.microsoft.com/office/drawing/2014/main" id="{56ED826F-6F7D-CCB5-76A1-EA49A9AF35F1}"/>
                  </a:ext>
                </a:extLst>
              </p:cNvPr>
              <p:cNvSpPr/>
              <p:nvPr/>
            </p:nvSpPr>
            <p:spPr>
              <a:xfrm>
                <a:off x="4546617" y="4866458"/>
                <a:ext cx="152400" cy="152400"/>
              </a:xfrm>
              <a:prstGeom prst="rect">
                <a:avLst/>
              </a:prstGeom>
              <a:solidFill>
                <a:srgbClr val="DCE6F1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  <p:sp>
            <p:nvSpPr>
              <p:cNvPr id="52" name="Rectangle 19">
                <a:extLst>
                  <a:ext uri="{FF2B5EF4-FFF2-40B4-BE49-F238E27FC236}">
                    <a16:creationId xmlns:a16="http://schemas.microsoft.com/office/drawing/2014/main" id="{A3D7B0EE-BC96-E9BD-9B79-5468972B9012}"/>
                  </a:ext>
                </a:extLst>
              </p:cNvPr>
              <p:cNvSpPr/>
              <p:nvPr/>
            </p:nvSpPr>
            <p:spPr>
              <a:xfrm>
                <a:off x="4723402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3" name="Rectangle 20">
                <a:extLst>
                  <a:ext uri="{FF2B5EF4-FFF2-40B4-BE49-F238E27FC236}">
                    <a16:creationId xmlns:a16="http://schemas.microsoft.com/office/drawing/2014/main" id="{726D7316-B0E0-776E-1C02-E564BC9AC693}"/>
                  </a:ext>
                </a:extLst>
              </p:cNvPr>
              <p:cNvSpPr/>
              <p:nvPr/>
            </p:nvSpPr>
            <p:spPr>
              <a:xfrm>
                <a:off x="4900185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54" name="Rectangle 21">
                <a:extLst>
                  <a:ext uri="{FF2B5EF4-FFF2-40B4-BE49-F238E27FC236}">
                    <a16:creationId xmlns:a16="http://schemas.microsoft.com/office/drawing/2014/main" id="{6CADFB5C-D6BF-0406-B0B4-A5A45A4F9CA5}"/>
                  </a:ext>
                </a:extLst>
              </p:cNvPr>
              <p:cNvSpPr/>
              <p:nvPr/>
            </p:nvSpPr>
            <p:spPr>
              <a:xfrm>
                <a:off x="5076969" y="4866458"/>
                <a:ext cx="152400" cy="152400"/>
              </a:xfrm>
              <a:prstGeom prst="rect">
                <a:avLst/>
              </a:prstGeom>
              <a:solidFill>
                <a:srgbClr val="FDEBD0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55" name="Rectangle 22">
                <a:extLst>
                  <a:ext uri="{FF2B5EF4-FFF2-40B4-BE49-F238E27FC236}">
                    <a16:creationId xmlns:a16="http://schemas.microsoft.com/office/drawing/2014/main" id="{6C060DD7-BF7B-AE5C-9349-282865EB0729}"/>
                  </a:ext>
                </a:extLst>
              </p:cNvPr>
              <p:cNvSpPr/>
              <p:nvPr/>
            </p:nvSpPr>
            <p:spPr>
              <a:xfrm>
                <a:off x="5253753" y="4866458"/>
                <a:ext cx="152400" cy="152400"/>
              </a:xfrm>
              <a:prstGeom prst="rect">
                <a:avLst/>
              </a:prstGeom>
              <a:solidFill>
                <a:srgbClr val="D5F5E3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cxnSp>
            <p:nvCxnSpPr>
              <p:cNvPr id="61" name="Connector 29">
                <a:extLst>
                  <a:ext uri="{FF2B5EF4-FFF2-40B4-BE49-F238E27FC236}">
                    <a16:creationId xmlns:a16="http://schemas.microsoft.com/office/drawing/2014/main" id="{8F757A98-29E9-2775-CF92-31C88C45F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4356" y="4510194"/>
                <a:ext cx="1070622" cy="188624"/>
              </a:xfrm>
              <a:prstGeom prst="line">
                <a:avLst/>
              </a:prstGeom>
              <a:ln w="5291">
                <a:solidFill>
                  <a:srgbClr val="777777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8DD229-0A96-AD3D-008C-66A0DEAA3464}"/>
                  </a:ext>
                </a:extLst>
              </p:cNvPr>
              <p:cNvSpPr txBox="1"/>
              <p:nvPr/>
            </p:nvSpPr>
            <p:spPr>
              <a:xfrm>
                <a:off x="5472290" y="4711373"/>
                <a:ext cx="1219200" cy="16927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기준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C 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-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</a:t>
                </a:r>
                <a:r>
                  <a:rPr lang="ko-KR" altLang="en-US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소</a:t>
                </a:r>
                <a:r>
                  <a:rPr lang="en-US" altLang="ko-KR"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·</a:t>
                </a:r>
                <a:r>
                  <a:rPr lang="ko-KR" altLang="en-US"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최댓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값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교번</a:t>
                </a:r>
                <a:r>
                  <a:rPr sz="500" b="1" dirty="0">
                    <a:solidFill>
                      <a:srgbClr val="333333"/>
                    </a:solidFill>
                    <a:latin typeface="맑은 고딕"/>
                    <a:ea typeface="맑은 고딕"/>
                  </a:rPr>
                  <a:t> </a:t>
                </a:r>
                <a:r>
                  <a:rPr sz="500" b="1" dirty="0" err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정렬</a:t>
                </a:r>
                <a:endParaRPr sz="500" b="1" dirty="0">
                  <a:solidFill>
                    <a:srgbClr val="333333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63" name="Rectangle 31">
                <a:extLst>
                  <a:ext uri="{FF2B5EF4-FFF2-40B4-BE49-F238E27FC236}">
                    <a16:creationId xmlns:a16="http://schemas.microsoft.com/office/drawing/2014/main" id="{E2E41FE1-1CC3-1C2F-A6FA-0C746A2A93DD}"/>
                  </a:ext>
                </a:extLst>
              </p:cNvPr>
              <p:cNvSpPr/>
              <p:nvPr/>
            </p:nvSpPr>
            <p:spPr>
              <a:xfrm>
                <a:off x="5652122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4" name="Rectangle 32">
                <a:extLst>
                  <a:ext uri="{FF2B5EF4-FFF2-40B4-BE49-F238E27FC236}">
                    <a16:creationId xmlns:a16="http://schemas.microsoft.com/office/drawing/2014/main" id="{B3820DFB-AC55-DBAE-535F-075B8C28951F}"/>
                  </a:ext>
                </a:extLst>
              </p:cNvPr>
              <p:cNvSpPr/>
              <p:nvPr/>
            </p:nvSpPr>
            <p:spPr>
              <a:xfrm>
                <a:off x="5828906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5</a:t>
                </a:r>
              </a:p>
            </p:txBody>
          </p:sp>
          <p:sp>
            <p:nvSpPr>
              <p:cNvPr id="65" name="Rectangle 33">
                <a:extLst>
                  <a:ext uri="{FF2B5EF4-FFF2-40B4-BE49-F238E27FC236}">
                    <a16:creationId xmlns:a16="http://schemas.microsoft.com/office/drawing/2014/main" id="{13950230-D01F-A233-93BA-E8974CF0B7A5}"/>
                  </a:ext>
                </a:extLst>
              </p:cNvPr>
              <p:cNvSpPr/>
              <p:nvPr/>
            </p:nvSpPr>
            <p:spPr>
              <a:xfrm>
                <a:off x="6005690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1</a:t>
                </a:r>
              </a:p>
            </p:txBody>
          </p:sp>
          <p:sp>
            <p:nvSpPr>
              <p:cNvPr id="66" name="Rectangle 34">
                <a:extLst>
                  <a:ext uri="{FF2B5EF4-FFF2-40B4-BE49-F238E27FC236}">
                    <a16:creationId xmlns:a16="http://schemas.microsoft.com/office/drawing/2014/main" id="{4ABF18E5-6871-FF54-C8B9-ECAA5A3AE4D5}"/>
                  </a:ext>
                </a:extLst>
              </p:cNvPr>
              <p:cNvSpPr/>
              <p:nvPr/>
            </p:nvSpPr>
            <p:spPr>
              <a:xfrm>
                <a:off x="6182474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4</a:t>
                </a:r>
              </a:p>
            </p:txBody>
          </p:sp>
          <p:sp>
            <p:nvSpPr>
              <p:cNvPr id="67" name="Rectangle 35">
                <a:extLst>
                  <a:ext uri="{FF2B5EF4-FFF2-40B4-BE49-F238E27FC236}">
                    <a16:creationId xmlns:a16="http://schemas.microsoft.com/office/drawing/2014/main" id="{B7C2C650-638D-B53A-559F-E9ADE21ED7E5}"/>
                  </a:ext>
                </a:extLst>
              </p:cNvPr>
              <p:cNvSpPr/>
              <p:nvPr/>
            </p:nvSpPr>
            <p:spPr>
              <a:xfrm>
                <a:off x="6359258" y="4871053"/>
                <a:ext cx="152400" cy="152400"/>
              </a:xfrm>
              <a:prstGeom prst="rect">
                <a:avLst/>
              </a:prstGeom>
              <a:solidFill>
                <a:srgbClr val="FFFFFF"/>
              </a:solidFill>
              <a:ln w="4233">
                <a:solidFill>
                  <a:srgbClr val="33333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192" tIns="6096" rIns="12192" bIns="6096" rtlCol="0" anchor="ctr"/>
              <a:lstStyle/>
              <a:p>
                <a:pPr algn="ctr"/>
                <a:r>
                  <a:rPr sz="600" b="1">
                    <a:solidFill>
                      <a:srgbClr val="333333"/>
                    </a:solidFill>
                    <a:latin typeface="맑은 고딕"/>
                    <a:ea typeface="맑은 고딕"/>
                  </a:rPr>
                  <a:t>3</a:t>
                </a:r>
              </a:p>
            </p:txBody>
          </p:sp>
        </p:grp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5A5D5F54-4C9C-B201-47E4-3DEDA433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6" r="337"/>
          <a:stretch>
            <a:fillRect/>
          </a:stretch>
        </p:blipFill>
        <p:spPr>
          <a:xfrm>
            <a:off x="3466544" y="7545532"/>
            <a:ext cx="3018925" cy="1003375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0C3F49AA-61AB-6D07-71B6-16F3857336B2}"/>
              </a:ext>
            </a:extLst>
          </p:cNvPr>
          <p:cNvGrpSpPr/>
          <p:nvPr/>
        </p:nvGrpSpPr>
        <p:grpSpPr>
          <a:xfrm>
            <a:off x="543864" y="5695391"/>
            <a:ext cx="2788920" cy="830997"/>
            <a:chOff x="3461086" y="7824428"/>
            <a:chExt cx="3048155" cy="916027"/>
          </a:xfrm>
        </p:grpSpPr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6E182890-3A45-9C29-DF8E-3DBFB922D685}"/>
                </a:ext>
              </a:extLst>
            </p:cNvPr>
            <p:cNvSpPr/>
            <p:nvPr/>
          </p:nvSpPr>
          <p:spPr>
            <a:xfrm>
              <a:off x="3461086" y="7824429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입력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(3, 1, 4, 1, 5)</a:t>
              </a:r>
            </a:p>
          </p:txBody>
        </p:sp>
        <p:sp>
          <p:nvSpPr>
            <p:cNvPr id="68" name="Rounded Rectangle 3">
              <a:extLst>
                <a:ext uri="{FF2B5EF4-FFF2-40B4-BE49-F238E27FC236}">
                  <a16:creationId xmlns:a16="http://schemas.microsoft.com/office/drawing/2014/main" id="{34660F42-FDEA-C26B-B5F2-F4F6571BC275}"/>
                </a:ext>
              </a:extLst>
            </p:cNvPr>
            <p:cNvSpPr/>
            <p:nvPr/>
          </p:nvSpPr>
          <p:spPr>
            <a:xfrm>
              <a:off x="4176372" y="7826055"/>
              <a:ext cx="70104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Encoder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입력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전체를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벡터로</a:t>
              </a:r>
              <a:r>
                <a:rPr lang="ko-KR" altLang="en-US"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변환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9" name="Rounded Rectangle 4">
              <a:extLst>
                <a:ext uri="{FF2B5EF4-FFF2-40B4-BE49-F238E27FC236}">
                  <a16:creationId xmlns:a16="http://schemas.microsoft.com/office/drawing/2014/main" id="{D5955413-6CC4-7ECE-53FE-7441A5B6DFBE}"/>
                </a:ext>
              </a:extLst>
            </p:cNvPr>
            <p:cNvSpPr/>
            <p:nvPr/>
          </p:nvSpPr>
          <p:spPr>
            <a:xfrm>
              <a:off x="4999332" y="7826053"/>
              <a:ext cx="792480" cy="365759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33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Decoder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출력을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자기회귀적으로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생성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Rounded Rectangle 5">
              <a:extLst>
                <a:ext uri="{FF2B5EF4-FFF2-40B4-BE49-F238E27FC236}">
                  <a16:creationId xmlns:a16="http://schemas.microsoft.com/office/drawing/2014/main" id="{75464180-EE3A-DB07-7B5D-EB13EDA039D2}"/>
                </a:ext>
              </a:extLst>
            </p:cNvPr>
            <p:cNvSpPr/>
            <p:nvPr/>
          </p:nvSpPr>
          <p:spPr>
            <a:xfrm>
              <a:off x="5930121" y="7824428"/>
              <a:ext cx="579120" cy="365759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출력</a:t>
              </a:r>
              <a:r>
                <a:rPr sz="416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 </a:t>
              </a:r>
              <a:r>
                <a:rPr sz="416" b="1" dirty="0" err="1">
                  <a:solidFill>
                    <a:srgbClr val="333333"/>
                  </a:solidFill>
                  <a:latin typeface="맑은 고딕"/>
                  <a:ea typeface="맑은 고딕"/>
                </a:rPr>
                <a:t>수열</a:t>
              </a:r>
              <a:endParaRPr sz="416" b="1" dirty="0">
                <a:solidFill>
                  <a:srgbClr val="333333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(1, 1, 3, 4, 5)</a:t>
              </a:r>
            </a:p>
          </p:txBody>
        </p:sp>
        <p:cxnSp>
          <p:nvCxnSpPr>
            <p:cNvPr id="71" name="Connector 6">
              <a:extLst>
                <a:ext uri="{FF2B5EF4-FFF2-40B4-BE49-F238E27FC236}">
                  <a16:creationId xmlns:a16="http://schemas.microsoft.com/office/drawing/2014/main" id="{C38F41C8-1042-FA12-28F4-2B0F9A3A620F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>
              <a:off x="4040206" y="8007309"/>
              <a:ext cx="136166" cy="1626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">
              <a:extLst>
                <a:ext uri="{FF2B5EF4-FFF2-40B4-BE49-F238E27FC236}">
                  <a16:creationId xmlns:a16="http://schemas.microsoft.com/office/drawing/2014/main" id="{57CCB3BE-38A8-0362-08C4-C235990587DA}"/>
                </a:ext>
              </a:extLst>
            </p:cNvPr>
            <p:cNvCxnSpPr>
              <a:cxnSpLocks/>
            </p:cNvCxnSpPr>
            <p:nvPr/>
          </p:nvCxnSpPr>
          <p:spPr>
            <a:xfrm>
              <a:off x="4877411" y="8008935"/>
              <a:ext cx="121920" cy="0"/>
            </a:xfrm>
            <a:prstGeom prst="line">
              <a:avLst/>
            </a:prstGeom>
            <a:ln w="7408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8">
              <a:extLst>
                <a:ext uri="{FF2B5EF4-FFF2-40B4-BE49-F238E27FC236}">
                  <a16:creationId xmlns:a16="http://schemas.microsoft.com/office/drawing/2014/main" id="{5B8BB2A1-7181-F67B-901E-58E4D63686D4}"/>
                </a:ext>
              </a:extLst>
            </p:cNvPr>
            <p:cNvCxnSpPr>
              <a:cxnSpLocks/>
            </p:cNvCxnSpPr>
            <p:nvPr/>
          </p:nvCxnSpPr>
          <p:spPr>
            <a:xfrm>
              <a:off x="5791812" y="8007308"/>
              <a:ext cx="138309" cy="0"/>
            </a:xfrm>
            <a:prstGeom prst="line">
              <a:avLst/>
            </a:prstGeom>
            <a:ln w="7407">
              <a:solidFill>
                <a:srgbClr val="333333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ounded Rectangle 9">
              <a:extLst>
                <a:ext uri="{FF2B5EF4-FFF2-40B4-BE49-F238E27FC236}">
                  <a16:creationId xmlns:a16="http://schemas.microsoft.com/office/drawing/2014/main" id="{B99ED1C9-031E-27F2-B261-8D7405C13AA8}"/>
                </a:ext>
              </a:extLst>
            </p:cNvPr>
            <p:cNvSpPr/>
            <p:nvPr/>
          </p:nvSpPr>
          <p:spPr>
            <a:xfrm>
              <a:off x="4054452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DCE6F1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 dirty="0">
                  <a:solidFill>
                    <a:srgbClr val="333333"/>
                  </a:solidFill>
                  <a:latin typeface="맑은 고딕"/>
                  <a:ea typeface="맑은 고딕"/>
                </a:rPr>
                <a:t>Token Embedding</a:t>
              </a:r>
            </a:p>
            <a:p>
              <a:pPr algn="ctr"/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값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정보</a:t>
              </a:r>
              <a:r>
                <a:rPr sz="400" b="0" dirty="0">
                  <a:solidFill>
                    <a:srgbClr val="777777"/>
                  </a:solidFill>
                  <a:latin typeface="맑은 고딕"/>
                  <a:ea typeface="맑은 고딕"/>
                </a:rPr>
                <a:t> </a:t>
              </a:r>
              <a:r>
                <a:rPr sz="400" b="0" dirty="0" err="1">
                  <a:solidFill>
                    <a:srgbClr val="777777"/>
                  </a:solidFill>
                  <a:latin typeface="맑은 고딕"/>
                  <a:ea typeface="맑은 고딕"/>
                </a:rPr>
                <a:t>담당</a:t>
              </a:r>
              <a:endParaRPr sz="400" b="0" dirty="0">
                <a:solidFill>
                  <a:srgbClr val="777777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5" name="Rounded Rectangle 10">
              <a:extLst>
                <a:ext uri="{FF2B5EF4-FFF2-40B4-BE49-F238E27FC236}">
                  <a16:creationId xmlns:a16="http://schemas.microsoft.com/office/drawing/2014/main" id="{A74CBF72-2CDC-A6F6-FF46-49F595B11857}"/>
                </a:ext>
              </a:extLst>
            </p:cNvPr>
            <p:cNvSpPr/>
            <p:nvPr/>
          </p:nvSpPr>
          <p:spPr>
            <a:xfrm>
              <a:off x="4968851" y="8496615"/>
              <a:ext cx="761999" cy="243840"/>
            </a:xfrm>
            <a:prstGeom prst="roundRect">
              <a:avLst>
                <a:gd name="adj" fmla="val 12000"/>
              </a:avLst>
            </a:prstGeom>
            <a:solidFill>
              <a:srgbClr val="FDEBD0"/>
            </a:solidFill>
            <a:ln w="5291">
              <a:solidFill>
                <a:srgbClr val="3333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192" tIns="6096" rIns="12192" bIns="6096" rtlCol="0" anchor="ctr"/>
            <a:lstStyle/>
            <a:p>
              <a:pPr algn="ctr"/>
              <a:r>
                <a:rPr sz="400" b="1">
                  <a:solidFill>
                    <a:srgbClr val="333333"/>
                  </a:solidFill>
                  <a:latin typeface="맑은 고딕"/>
                  <a:ea typeface="맑은 고딕"/>
                </a:rPr>
                <a:t>Positional Embedding</a:t>
              </a:r>
            </a:p>
            <a:p>
              <a:pPr algn="ctr"/>
              <a:r>
                <a:rPr sz="400" b="0">
                  <a:solidFill>
                    <a:srgbClr val="777777"/>
                  </a:solidFill>
                  <a:latin typeface="맑은 고딕"/>
                  <a:ea typeface="맑은 고딕"/>
                </a:rPr>
                <a:t>위치 정보 담당</a:t>
              </a:r>
            </a:p>
          </p:txBody>
        </p:sp>
        <p:cxnSp>
          <p:nvCxnSpPr>
            <p:cNvPr id="76" name="Connector 11">
              <a:extLst>
                <a:ext uri="{FF2B5EF4-FFF2-40B4-BE49-F238E27FC236}">
                  <a16:creationId xmlns:a16="http://schemas.microsoft.com/office/drawing/2014/main" id="{F362E2FC-CBDA-89D9-6D5A-CFE12E7F289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4389732" y="8191815"/>
              <a:ext cx="45720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12">
              <a:extLst>
                <a:ext uri="{FF2B5EF4-FFF2-40B4-BE49-F238E27FC236}">
                  <a16:creationId xmlns:a16="http://schemas.microsoft.com/office/drawing/2014/main" id="{D95CAD11-15C1-2474-6ED5-CF1EB5C7AD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2177" y="8190187"/>
              <a:ext cx="471376" cy="306425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13">
              <a:extLst>
                <a:ext uri="{FF2B5EF4-FFF2-40B4-BE49-F238E27FC236}">
                  <a16:creationId xmlns:a16="http://schemas.microsoft.com/office/drawing/2014/main" id="{90DE7151-FB2C-EF5D-7106-4847677D3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4051" y="8191815"/>
              <a:ext cx="428864" cy="304797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14">
              <a:extLst>
                <a:ext uri="{FF2B5EF4-FFF2-40B4-BE49-F238E27FC236}">
                  <a16:creationId xmlns:a16="http://schemas.microsoft.com/office/drawing/2014/main" id="{23E35000-89FE-1310-04F7-845169AD7FCC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5349851" y="8191815"/>
              <a:ext cx="350521" cy="304800"/>
            </a:xfrm>
            <a:prstGeom prst="line">
              <a:avLst/>
            </a:prstGeom>
            <a:ln w="5291">
              <a:solidFill>
                <a:srgbClr val="77777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007F3B4-56D0-155B-7318-10114163A7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61" y="4339005"/>
            <a:ext cx="2470384" cy="111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5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679</TotalTime>
  <Words>611</Words>
  <Application>Microsoft Office PowerPoint</Application>
  <PresentationFormat>Letter 용지(8.5x11in)</PresentationFormat>
  <Paragraphs>92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1984대화나눔_본문체_Bold</vt:lpstr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teacher</dc:creator>
  <cp:lastModifiedBy>서혁 김</cp:lastModifiedBy>
  <cp:revision>10</cp:revision>
  <dcterms:created xsi:type="dcterms:W3CDTF">2026-06-30T01:35:29Z</dcterms:created>
  <dcterms:modified xsi:type="dcterms:W3CDTF">2026-07-03T04:43:50Z</dcterms:modified>
</cp:coreProperties>
</file>
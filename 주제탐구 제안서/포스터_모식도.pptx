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4063898" cy="228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79" y="152400"/>
            <a:ext cx="365760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맑은 고딕"/>
                <a:ea typeface="맑은 고딕"/>
              </a:rPr>
              <a:t>포스터용 모식도 모음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9" y="426719"/>
            <a:ext cx="3657600" cy="152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00" b="0">
                <a:solidFill>
                  <a:srgbClr val="333333"/>
                </a:solidFill>
                <a:latin typeface="맑은 고딕"/>
                <a:ea typeface="맑은 고딕"/>
              </a:rPr>
              <a:t>슬라이드 2 — 그림 1. Grokking 학습 곡선 모식도</a:t>
            </a:r>
          </a:p>
          <a:p>
            <a:pPr algn="l"/>
            <a:r>
              <a:rPr sz="500" b="0">
                <a:solidFill>
                  <a:srgbClr val="333333"/>
                </a:solidFill>
                <a:latin typeface="맑은 고딕"/>
                <a:ea typeface="맑은 고딕"/>
              </a:rPr>
              <a:t>슬라이드 3 — 그림 2. 세 가지 정렬 기준 비교</a:t>
            </a:r>
          </a:p>
          <a:p>
            <a:pPr algn="l"/>
            <a:r>
              <a:rPr sz="500" b="0">
                <a:solidFill>
                  <a:srgbClr val="333333"/>
                </a:solidFill>
                <a:latin typeface="맑은 고딕"/>
                <a:ea typeface="맑은 고딕"/>
              </a:rPr>
              <a:t>슬라이드 4 — 그림 3. seq2seq Transformer 구조와 embedding</a:t>
            </a:r>
          </a:p>
          <a:p>
            <a:pPr algn="l"/>
            <a:r>
              <a:rPr sz="500" b="0">
                <a:solidFill>
                  <a:srgbClr val="333333"/>
                </a:solidFill>
                <a:latin typeface="맑은 고딕"/>
                <a:ea typeface="맑은 고딕"/>
              </a:rPr>
              <a:t>슬라이드 5 — 그림 4. Grokking 이후 예상 내부 표현 구조</a:t>
            </a:r>
          </a:p>
          <a:p>
            <a:pPr algn="l"/>
            <a:r>
              <a:rPr sz="500" b="0">
                <a:solidFill>
                  <a:srgbClr val="333333"/>
                </a:solidFill>
                <a:latin typeface="맑은 고딕"/>
                <a:ea typeface="맑은 고딕"/>
              </a:rPr>
              <a:t>슬라이드 6 — 그림 5. 연구 추진 일정</a:t>
            </a:r>
          </a:p>
          <a:p>
            <a:pPr algn="l"/>
            <a:r>
              <a:rPr sz="500" b="0">
                <a:solidFill>
                  <a:srgbClr val="333333"/>
                </a:solidFill>
                <a:latin typeface="맑은 고딕"/>
                <a:ea typeface="맑은 고딕"/>
              </a:rPr>
              <a:t/>
            </a:r>
          </a:p>
          <a:p>
            <a:pPr algn="l"/>
            <a:r>
              <a:rPr sz="500" b="0">
                <a:solidFill>
                  <a:srgbClr val="333333"/>
                </a:solidFill>
                <a:latin typeface="맑은 고딕"/>
                <a:ea typeface="맑은 고딕"/>
              </a:rPr>
              <a:t>사용 방법: 원하는 슬라이드에서 ⌘A(전체 선택) 후 복사하여 포스터 파일에 붙여넣으세요.</a:t>
            </a:r>
          </a:p>
          <a:p>
            <a:pPr algn="l"/>
            <a:r>
              <a:rPr sz="500" b="0">
                <a:solidFill>
                  <a:srgbClr val="333333"/>
                </a:solidFill>
                <a:latin typeface="맑은 고딕"/>
                <a:ea typeface="맑은 고딕"/>
              </a:rPr>
              <a:t>모든 요소가 편집 가능한 도형이므로 색상·글꼴·크기를 포스터 양식에 맞게 수정할 수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67056"/>
            <a:ext cx="3779519" cy="152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6" b="1">
                <a:solidFill>
                  <a:srgbClr val="333333"/>
                </a:solidFill>
                <a:latin typeface="맑은 고딕"/>
                <a:ea typeface="맑은 고딕"/>
              </a:rPr>
              <a:t>그림 1. Grokking 학습 곡선 모식도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26719" y="365759"/>
            <a:ext cx="0" cy="1432561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26719" y="1798320"/>
            <a:ext cx="2484120" cy="0"/>
          </a:xfrm>
          <a:prstGeom prst="line">
            <a:avLst/>
          </a:prstGeom>
          <a:ln w="63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6719" y="396240"/>
            <a:ext cx="2377441" cy="0"/>
          </a:xfrm>
          <a:prstGeom prst="line">
            <a:avLst/>
          </a:prstGeom>
          <a:ln w="3175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9080" y="353568"/>
            <a:ext cx="15240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9080" y="1755648"/>
            <a:ext cx="15240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128015" y="1021080"/>
            <a:ext cx="274320" cy="12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정확도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719" y="1834896"/>
            <a:ext cx="2377439" cy="106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훈련 단계 (step)</a:t>
            </a:r>
          </a:p>
        </p:txBody>
      </p:sp>
      <p:sp>
        <p:nvSpPr>
          <p:cNvPr id="10" name="Freeform 9"/>
          <p:cNvSpPr/>
          <p:nvPr/>
        </p:nvSpPr>
        <p:spPr>
          <a:xfrm>
            <a:off x="426719" y="410260"/>
            <a:ext cx="2377441" cy="1356655"/>
          </a:xfrm>
          <a:custGeom>
            <a:avLst/>
            <a:gdLst/>
            <a:ahLst/>
            <a:cxnLst/>
            <a:rect l="l" t="t" r="r" b="b"/>
            <a:pathLst>
              <a:path w="2377441" h="1356655">
                <a:moveTo>
                  <a:pt x="0" y="1356655"/>
                </a:moveTo>
                <a:lnTo>
                  <a:pt x="19812" y="1354482"/>
                </a:lnTo>
                <a:lnTo>
                  <a:pt x="39624" y="1350916"/>
                </a:lnTo>
                <a:lnTo>
                  <a:pt x="59436" y="1345075"/>
                </a:lnTo>
                <a:lnTo>
                  <a:pt x="79248" y="1335556"/>
                </a:lnTo>
                <a:lnTo>
                  <a:pt x="99061" y="1320153"/>
                </a:lnTo>
                <a:lnTo>
                  <a:pt x="118872" y="1295518"/>
                </a:lnTo>
                <a:lnTo>
                  <a:pt x="138685" y="1256849"/>
                </a:lnTo>
                <a:lnTo>
                  <a:pt x="158496" y="1197900"/>
                </a:lnTo>
                <a:lnTo>
                  <a:pt x="178309" y="1111916"/>
                </a:lnTo>
                <a:lnTo>
                  <a:pt x="198120" y="994253"/>
                </a:lnTo>
                <a:lnTo>
                  <a:pt x="217932" y="846556"/>
                </a:lnTo>
                <a:lnTo>
                  <a:pt x="237744" y="680009"/>
                </a:lnTo>
                <a:lnTo>
                  <a:pt x="257556" y="513462"/>
                </a:lnTo>
                <a:lnTo>
                  <a:pt x="277368" y="365765"/>
                </a:lnTo>
                <a:lnTo>
                  <a:pt x="297181" y="248102"/>
                </a:lnTo>
                <a:lnTo>
                  <a:pt x="316992" y="162118"/>
                </a:lnTo>
                <a:lnTo>
                  <a:pt x="336805" y="103169"/>
                </a:lnTo>
                <a:lnTo>
                  <a:pt x="356616" y="64500"/>
                </a:lnTo>
                <a:lnTo>
                  <a:pt x="376428" y="39865"/>
                </a:lnTo>
                <a:lnTo>
                  <a:pt x="396240" y="24462"/>
                </a:lnTo>
                <a:lnTo>
                  <a:pt x="416052" y="14943"/>
                </a:lnTo>
                <a:lnTo>
                  <a:pt x="435864" y="9103"/>
                </a:lnTo>
                <a:lnTo>
                  <a:pt x="455676" y="5536"/>
                </a:lnTo>
                <a:lnTo>
                  <a:pt x="475488" y="3363"/>
                </a:lnTo>
                <a:lnTo>
                  <a:pt x="495300" y="2042"/>
                </a:lnTo>
                <a:lnTo>
                  <a:pt x="515112" y="1239"/>
                </a:lnTo>
                <a:lnTo>
                  <a:pt x="534924" y="752"/>
                </a:lnTo>
                <a:lnTo>
                  <a:pt x="554736" y="456"/>
                </a:lnTo>
                <a:lnTo>
                  <a:pt x="574548" y="277"/>
                </a:lnTo>
                <a:lnTo>
                  <a:pt x="594360" y="168"/>
                </a:lnTo>
                <a:lnTo>
                  <a:pt x="614172" y="102"/>
                </a:lnTo>
                <a:lnTo>
                  <a:pt x="633984" y="62"/>
                </a:lnTo>
                <a:lnTo>
                  <a:pt x="653797" y="38"/>
                </a:lnTo>
                <a:lnTo>
                  <a:pt x="673608" y="23"/>
                </a:lnTo>
                <a:lnTo>
                  <a:pt x="693420" y="14"/>
                </a:lnTo>
                <a:lnTo>
                  <a:pt x="713232" y="9"/>
                </a:lnTo>
                <a:lnTo>
                  <a:pt x="733044" y="5"/>
                </a:lnTo>
                <a:lnTo>
                  <a:pt x="752856" y="3"/>
                </a:lnTo>
                <a:lnTo>
                  <a:pt x="772668" y="2"/>
                </a:lnTo>
                <a:lnTo>
                  <a:pt x="792480" y="1"/>
                </a:lnTo>
                <a:lnTo>
                  <a:pt x="812292" y="1"/>
                </a:lnTo>
                <a:lnTo>
                  <a:pt x="832104" y="1"/>
                </a:lnTo>
                <a:lnTo>
                  <a:pt x="851916" y="1"/>
                </a:lnTo>
                <a:lnTo>
                  <a:pt x="871729" y="0"/>
                </a:lnTo>
                <a:lnTo>
                  <a:pt x="891540" y="0"/>
                </a:lnTo>
                <a:lnTo>
                  <a:pt x="911352" y="0"/>
                </a:lnTo>
                <a:lnTo>
                  <a:pt x="931165" y="0"/>
                </a:lnTo>
                <a:lnTo>
                  <a:pt x="950976" y="0"/>
                </a:lnTo>
                <a:lnTo>
                  <a:pt x="970788" y="0"/>
                </a:lnTo>
                <a:lnTo>
                  <a:pt x="990600" y="0"/>
                </a:lnTo>
                <a:lnTo>
                  <a:pt x="1010413" y="0"/>
                </a:lnTo>
                <a:lnTo>
                  <a:pt x="1030224" y="0"/>
                </a:lnTo>
                <a:lnTo>
                  <a:pt x="1050036" y="0"/>
                </a:lnTo>
                <a:lnTo>
                  <a:pt x="1069849" y="0"/>
                </a:lnTo>
                <a:lnTo>
                  <a:pt x="1089661" y="0"/>
                </a:lnTo>
                <a:lnTo>
                  <a:pt x="1109472" y="0"/>
                </a:lnTo>
                <a:lnTo>
                  <a:pt x="1129284" y="0"/>
                </a:lnTo>
                <a:lnTo>
                  <a:pt x="1149096" y="0"/>
                </a:lnTo>
                <a:lnTo>
                  <a:pt x="1168908" y="0"/>
                </a:lnTo>
                <a:lnTo>
                  <a:pt x="1188720" y="0"/>
                </a:lnTo>
                <a:lnTo>
                  <a:pt x="1208532" y="0"/>
                </a:lnTo>
                <a:lnTo>
                  <a:pt x="1228344" y="0"/>
                </a:lnTo>
                <a:lnTo>
                  <a:pt x="1248156" y="0"/>
                </a:lnTo>
                <a:lnTo>
                  <a:pt x="1267968" y="0"/>
                </a:lnTo>
                <a:lnTo>
                  <a:pt x="1287780" y="0"/>
                </a:lnTo>
                <a:lnTo>
                  <a:pt x="1307592" y="0"/>
                </a:lnTo>
                <a:lnTo>
                  <a:pt x="1327404" y="0"/>
                </a:lnTo>
                <a:lnTo>
                  <a:pt x="1347216" y="0"/>
                </a:lnTo>
                <a:lnTo>
                  <a:pt x="1367028" y="0"/>
                </a:lnTo>
                <a:lnTo>
                  <a:pt x="1386840" y="0"/>
                </a:lnTo>
                <a:lnTo>
                  <a:pt x="1406652" y="0"/>
                </a:lnTo>
                <a:lnTo>
                  <a:pt x="1426464" y="0"/>
                </a:lnTo>
                <a:lnTo>
                  <a:pt x="1446276" y="0"/>
                </a:lnTo>
                <a:lnTo>
                  <a:pt x="1466088" y="0"/>
                </a:lnTo>
                <a:lnTo>
                  <a:pt x="1485900" y="0"/>
                </a:lnTo>
                <a:lnTo>
                  <a:pt x="1505713" y="0"/>
                </a:lnTo>
                <a:lnTo>
                  <a:pt x="1525524" y="0"/>
                </a:lnTo>
                <a:lnTo>
                  <a:pt x="1545336" y="0"/>
                </a:lnTo>
                <a:lnTo>
                  <a:pt x="1565148" y="0"/>
                </a:lnTo>
                <a:lnTo>
                  <a:pt x="1584960" y="0"/>
                </a:lnTo>
                <a:lnTo>
                  <a:pt x="1604772" y="0"/>
                </a:lnTo>
                <a:lnTo>
                  <a:pt x="1624584" y="0"/>
                </a:lnTo>
                <a:lnTo>
                  <a:pt x="1644396" y="0"/>
                </a:lnTo>
                <a:lnTo>
                  <a:pt x="1664208" y="0"/>
                </a:lnTo>
                <a:lnTo>
                  <a:pt x="1684020" y="0"/>
                </a:lnTo>
                <a:lnTo>
                  <a:pt x="1703832" y="0"/>
                </a:lnTo>
                <a:lnTo>
                  <a:pt x="1723645" y="0"/>
                </a:lnTo>
                <a:lnTo>
                  <a:pt x="1743456" y="0"/>
                </a:lnTo>
                <a:lnTo>
                  <a:pt x="1763268" y="0"/>
                </a:lnTo>
                <a:lnTo>
                  <a:pt x="1783081" y="0"/>
                </a:lnTo>
                <a:lnTo>
                  <a:pt x="1802892" y="0"/>
                </a:lnTo>
                <a:lnTo>
                  <a:pt x="1822704" y="0"/>
                </a:lnTo>
                <a:lnTo>
                  <a:pt x="1842516" y="0"/>
                </a:lnTo>
                <a:lnTo>
                  <a:pt x="1862328" y="0"/>
                </a:lnTo>
                <a:lnTo>
                  <a:pt x="1882140" y="0"/>
                </a:lnTo>
                <a:lnTo>
                  <a:pt x="1901952" y="0"/>
                </a:lnTo>
                <a:lnTo>
                  <a:pt x="1921764" y="0"/>
                </a:lnTo>
                <a:lnTo>
                  <a:pt x="1941577" y="0"/>
                </a:lnTo>
                <a:lnTo>
                  <a:pt x="1961388" y="0"/>
                </a:lnTo>
                <a:lnTo>
                  <a:pt x="1981200" y="0"/>
                </a:lnTo>
                <a:lnTo>
                  <a:pt x="2001013" y="0"/>
                </a:lnTo>
                <a:lnTo>
                  <a:pt x="2020824" y="0"/>
                </a:lnTo>
                <a:lnTo>
                  <a:pt x="2040636" y="0"/>
                </a:lnTo>
                <a:lnTo>
                  <a:pt x="2060448" y="0"/>
                </a:lnTo>
                <a:lnTo>
                  <a:pt x="2080260" y="0"/>
                </a:lnTo>
                <a:lnTo>
                  <a:pt x="2100072" y="0"/>
                </a:lnTo>
                <a:lnTo>
                  <a:pt x="2119884" y="0"/>
                </a:lnTo>
                <a:lnTo>
                  <a:pt x="2139697" y="0"/>
                </a:lnTo>
                <a:lnTo>
                  <a:pt x="2159509" y="0"/>
                </a:lnTo>
                <a:lnTo>
                  <a:pt x="2179320" y="0"/>
                </a:lnTo>
                <a:lnTo>
                  <a:pt x="2199132" y="0"/>
                </a:lnTo>
                <a:lnTo>
                  <a:pt x="2218945" y="0"/>
                </a:lnTo>
                <a:lnTo>
                  <a:pt x="2238756" y="0"/>
                </a:lnTo>
                <a:lnTo>
                  <a:pt x="2258568" y="0"/>
                </a:lnTo>
                <a:lnTo>
                  <a:pt x="2278380" y="0"/>
                </a:lnTo>
                <a:lnTo>
                  <a:pt x="2298192" y="0"/>
                </a:lnTo>
                <a:lnTo>
                  <a:pt x="2318004" y="0"/>
                </a:lnTo>
                <a:lnTo>
                  <a:pt x="2337816" y="0"/>
                </a:lnTo>
                <a:lnTo>
                  <a:pt x="2357629" y="0"/>
                </a:lnTo>
                <a:lnTo>
                  <a:pt x="2377441" y="0"/>
                </a:lnTo>
              </a:path>
            </a:pathLst>
          </a:custGeom>
          <a:noFill/>
          <a:ln w="10583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26719" y="438310"/>
            <a:ext cx="2377441" cy="1331968"/>
          </a:xfrm>
          <a:custGeom>
            <a:avLst/>
            <a:gdLst/>
            <a:ahLst/>
            <a:cxnLst/>
            <a:rect l="l" t="t" r="r" b="b"/>
            <a:pathLst>
              <a:path w="2377441" h="1331968">
                <a:moveTo>
                  <a:pt x="0" y="1331968"/>
                </a:moveTo>
                <a:lnTo>
                  <a:pt x="19812" y="1331968"/>
                </a:lnTo>
                <a:lnTo>
                  <a:pt x="39624" y="1331968"/>
                </a:lnTo>
                <a:lnTo>
                  <a:pt x="59436" y="1331968"/>
                </a:lnTo>
                <a:lnTo>
                  <a:pt x="79248" y="1331968"/>
                </a:lnTo>
                <a:lnTo>
                  <a:pt x="99061" y="1331968"/>
                </a:lnTo>
                <a:lnTo>
                  <a:pt x="118872" y="1331968"/>
                </a:lnTo>
                <a:lnTo>
                  <a:pt x="138685" y="1331968"/>
                </a:lnTo>
                <a:lnTo>
                  <a:pt x="158496" y="1331968"/>
                </a:lnTo>
                <a:lnTo>
                  <a:pt x="178309" y="1331968"/>
                </a:lnTo>
                <a:lnTo>
                  <a:pt x="198120" y="1331968"/>
                </a:lnTo>
                <a:lnTo>
                  <a:pt x="217932" y="1331968"/>
                </a:lnTo>
                <a:lnTo>
                  <a:pt x="237744" y="1331967"/>
                </a:lnTo>
                <a:lnTo>
                  <a:pt x="257556" y="1331967"/>
                </a:lnTo>
                <a:lnTo>
                  <a:pt x="277368" y="1331967"/>
                </a:lnTo>
                <a:lnTo>
                  <a:pt x="297181" y="1331967"/>
                </a:lnTo>
                <a:lnTo>
                  <a:pt x="316992" y="1331967"/>
                </a:lnTo>
                <a:lnTo>
                  <a:pt x="336805" y="1331966"/>
                </a:lnTo>
                <a:lnTo>
                  <a:pt x="356616" y="1331966"/>
                </a:lnTo>
                <a:lnTo>
                  <a:pt x="376428" y="1331966"/>
                </a:lnTo>
                <a:lnTo>
                  <a:pt x="396240" y="1331965"/>
                </a:lnTo>
                <a:lnTo>
                  <a:pt x="416052" y="1331964"/>
                </a:lnTo>
                <a:lnTo>
                  <a:pt x="435864" y="1331963"/>
                </a:lnTo>
                <a:lnTo>
                  <a:pt x="455676" y="1331962"/>
                </a:lnTo>
                <a:lnTo>
                  <a:pt x="475488" y="1331960"/>
                </a:lnTo>
                <a:lnTo>
                  <a:pt x="495300" y="1331957"/>
                </a:lnTo>
                <a:lnTo>
                  <a:pt x="515112" y="1331954"/>
                </a:lnTo>
                <a:lnTo>
                  <a:pt x="534924" y="1331951"/>
                </a:lnTo>
                <a:lnTo>
                  <a:pt x="554736" y="1331946"/>
                </a:lnTo>
                <a:lnTo>
                  <a:pt x="574548" y="1331939"/>
                </a:lnTo>
                <a:lnTo>
                  <a:pt x="594360" y="1331931"/>
                </a:lnTo>
                <a:lnTo>
                  <a:pt x="614172" y="1331921"/>
                </a:lnTo>
                <a:lnTo>
                  <a:pt x="633984" y="1331907"/>
                </a:lnTo>
                <a:lnTo>
                  <a:pt x="653797" y="1331890"/>
                </a:lnTo>
                <a:lnTo>
                  <a:pt x="673608" y="1331868"/>
                </a:lnTo>
                <a:lnTo>
                  <a:pt x="693420" y="1331840"/>
                </a:lnTo>
                <a:lnTo>
                  <a:pt x="713232" y="1331804"/>
                </a:lnTo>
                <a:lnTo>
                  <a:pt x="733044" y="1331757"/>
                </a:lnTo>
                <a:lnTo>
                  <a:pt x="752856" y="1331697"/>
                </a:lnTo>
                <a:lnTo>
                  <a:pt x="772668" y="1331620"/>
                </a:lnTo>
                <a:lnTo>
                  <a:pt x="792480" y="1331521"/>
                </a:lnTo>
                <a:lnTo>
                  <a:pt x="812292" y="1331394"/>
                </a:lnTo>
                <a:lnTo>
                  <a:pt x="832104" y="1331232"/>
                </a:lnTo>
                <a:lnTo>
                  <a:pt x="851916" y="1331023"/>
                </a:lnTo>
                <a:lnTo>
                  <a:pt x="871729" y="1330754"/>
                </a:lnTo>
                <a:lnTo>
                  <a:pt x="891540" y="1330410"/>
                </a:lnTo>
                <a:lnTo>
                  <a:pt x="911352" y="1329968"/>
                </a:lnTo>
                <a:lnTo>
                  <a:pt x="931165" y="1329402"/>
                </a:lnTo>
                <a:lnTo>
                  <a:pt x="950976" y="1328674"/>
                </a:lnTo>
                <a:lnTo>
                  <a:pt x="970788" y="1327742"/>
                </a:lnTo>
                <a:lnTo>
                  <a:pt x="990600" y="1326547"/>
                </a:lnTo>
                <a:lnTo>
                  <a:pt x="1010413" y="1325015"/>
                </a:lnTo>
                <a:lnTo>
                  <a:pt x="1030224" y="1323053"/>
                </a:lnTo>
                <a:lnTo>
                  <a:pt x="1050036" y="1320543"/>
                </a:lnTo>
                <a:lnTo>
                  <a:pt x="1069849" y="1317334"/>
                </a:lnTo>
                <a:lnTo>
                  <a:pt x="1089661" y="1313235"/>
                </a:lnTo>
                <a:lnTo>
                  <a:pt x="1109472" y="1308011"/>
                </a:lnTo>
                <a:lnTo>
                  <a:pt x="1129284" y="1301363"/>
                </a:lnTo>
                <a:lnTo>
                  <a:pt x="1149096" y="1292925"/>
                </a:lnTo>
                <a:lnTo>
                  <a:pt x="1168908" y="1282249"/>
                </a:lnTo>
                <a:lnTo>
                  <a:pt x="1188720" y="1268798"/>
                </a:lnTo>
                <a:lnTo>
                  <a:pt x="1208532" y="1251934"/>
                </a:lnTo>
                <a:lnTo>
                  <a:pt x="1228344" y="1230927"/>
                </a:lnTo>
                <a:lnTo>
                  <a:pt x="1248156" y="1204965"/>
                </a:lnTo>
                <a:lnTo>
                  <a:pt x="1267968" y="1173192"/>
                </a:lnTo>
                <a:lnTo>
                  <a:pt x="1287780" y="1134773"/>
                </a:lnTo>
                <a:lnTo>
                  <a:pt x="1307592" y="1088981"/>
                </a:lnTo>
                <a:lnTo>
                  <a:pt x="1327404" y="1035337"/>
                </a:lnTo>
                <a:lnTo>
                  <a:pt x="1347216" y="973744"/>
                </a:lnTo>
                <a:lnTo>
                  <a:pt x="1367028" y="904642"/>
                </a:lnTo>
                <a:lnTo>
                  <a:pt x="1386840" y="829093"/>
                </a:lnTo>
                <a:lnTo>
                  <a:pt x="1406652" y="748798"/>
                </a:lnTo>
                <a:lnTo>
                  <a:pt x="1426464" y="665980"/>
                </a:lnTo>
                <a:lnTo>
                  <a:pt x="1446276" y="583162"/>
                </a:lnTo>
                <a:lnTo>
                  <a:pt x="1466088" y="502867"/>
                </a:lnTo>
                <a:lnTo>
                  <a:pt x="1485900" y="427318"/>
                </a:lnTo>
                <a:lnTo>
                  <a:pt x="1505713" y="358215"/>
                </a:lnTo>
                <a:lnTo>
                  <a:pt x="1525524" y="296623"/>
                </a:lnTo>
                <a:lnTo>
                  <a:pt x="1545336" y="242978"/>
                </a:lnTo>
                <a:lnTo>
                  <a:pt x="1565148" y="197187"/>
                </a:lnTo>
                <a:lnTo>
                  <a:pt x="1584960" y="158767"/>
                </a:lnTo>
                <a:lnTo>
                  <a:pt x="1604772" y="126995"/>
                </a:lnTo>
                <a:lnTo>
                  <a:pt x="1624584" y="101033"/>
                </a:lnTo>
                <a:lnTo>
                  <a:pt x="1644396" y="80026"/>
                </a:lnTo>
                <a:lnTo>
                  <a:pt x="1664208" y="63162"/>
                </a:lnTo>
                <a:lnTo>
                  <a:pt x="1684020" y="49710"/>
                </a:lnTo>
                <a:lnTo>
                  <a:pt x="1703832" y="39035"/>
                </a:lnTo>
                <a:lnTo>
                  <a:pt x="1723645" y="30597"/>
                </a:lnTo>
                <a:lnTo>
                  <a:pt x="1743456" y="23949"/>
                </a:lnTo>
                <a:lnTo>
                  <a:pt x="1763268" y="18724"/>
                </a:lnTo>
                <a:lnTo>
                  <a:pt x="1783081" y="14626"/>
                </a:lnTo>
                <a:lnTo>
                  <a:pt x="1802892" y="11417"/>
                </a:lnTo>
                <a:lnTo>
                  <a:pt x="1822704" y="8907"/>
                </a:lnTo>
                <a:lnTo>
                  <a:pt x="1842516" y="6945"/>
                </a:lnTo>
                <a:lnTo>
                  <a:pt x="1862328" y="5413"/>
                </a:lnTo>
                <a:lnTo>
                  <a:pt x="1882140" y="4218"/>
                </a:lnTo>
                <a:lnTo>
                  <a:pt x="1901952" y="3285"/>
                </a:lnTo>
                <a:lnTo>
                  <a:pt x="1921764" y="2558"/>
                </a:lnTo>
                <a:lnTo>
                  <a:pt x="1941577" y="1991"/>
                </a:lnTo>
                <a:lnTo>
                  <a:pt x="1961388" y="1550"/>
                </a:lnTo>
                <a:lnTo>
                  <a:pt x="1981200" y="1205"/>
                </a:lnTo>
                <a:lnTo>
                  <a:pt x="2001013" y="937"/>
                </a:lnTo>
                <a:lnTo>
                  <a:pt x="2020824" y="728"/>
                </a:lnTo>
                <a:lnTo>
                  <a:pt x="2040636" y="565"/>
                </a:lnTo>
                <a:lnTo>
                  <a:pt x="2060448" y="439"/>
                </a:lnTo>
                <a:lnTo>
                  <a:pt x="2080260" y="340"/>
                </a:lnTo>
                <a:lnTo>
                  <a:pt x="2100072" y="263"/>
                </a:lnTo>
                <a:lnTo>
                  <a:pt x="2119884" y="203"/>
                </a:lnTo>
                <a:lnTo>
                  <a:pt x="2139697" y="156"/>
                </a:lnTo>
                <a:lnTo>
                  <a:pt x="2159509" y="120"/>
                </a:lnTo>
                <a:lnTo>
                  <a:pt x="2179320" y="92"/>
                </a:lnTo>
                <a:lnTo>
                  <a:pt x="2199132" y="70"/>
                </a:lnTo>
                <a:lnTo>
                  <a:pt x="2218945" y="52"/>
                </a:lnTo>
                <a:lnTo>
                  <a:pt x="2238756" y="39"/>
                </a:lnTo>
                <a:lnTo>
                  <a:pt x="2258568" y="29"/>
                </a:lnTo>
                <a:lnTo>
                  <a:pt x="2278380" y="20"/>
                </a:lnTo>
                <a:lnTo>
                  <a:pt x="2298192" y="14"/>
                </a:lnTo>
                <a:lnTo>
                  <a:pt x="2318004" y="9"/>
                </a:lnTo>
                <a:lnTo>
                  <a:pt x="2337816" y="5"/>
                </a:lnTo>
                <a:lnTo>
                  <a:pt x="2357629" y="2"/>
                </a:lnTo>
                <a:lnTo>
                  <a:pt x="2377441" y="0"/>
                </a:lnTo>
              </a:path>
            </a:pathLst>
          </a:custGeom>
          <a:noFill/>
          <a:ln w="10583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02207" y="396240"/>
            <a:ext cx="0" cy="1402080"/>
          </a:xfrm>
          <a:prstGeom prst="line">
            <a:avLst/>
          </a:prstGeom>
          <a:ln w="4233">
            <a:solidFill>
              <a:srgbClr val="77777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90927" y="396240"/>
            <a:ext cx="0" cy="1402080"/>
          </a:xfrm>
          <a:prstGeom prst="line">
            <a:avLst/>
          </a:prstGeom>
          <a:ln w="4233">
            <a:solidFill>
              <a:srgbClr val="77777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5967" y="268224"/>
            <a:ext cx="79248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1">
                <a:solidFill>
                  <a:srgbClr val="1F4E79"/>
                </a:solidFill>
                <a:latin typeface="맑은 고딕"/>
                <a:ea typeface="맑은 고딕"/>
              </a:rPr>
              <a:t>① 암기 완료 (훈련 정확도 포화)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4687" y="268224"/>
            <a:ext cx="79248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1">
                <a:solidFill>
                  <a:srgbClr val="C0392B"/>
                </a:solidFill>
                <a:latin typeface="맑은 고딕"/>
                <a:ea typeface="맑은 고딕"/>
              </a:rPr>
              <a:t>② 일반화 급상승 (Grokking)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2207" y="1097280"/>
            <a:ext cx="1188720" cy="0"/>
          </a:xfrm>
          <a:prstGeom prst="line">
            <a:avLst/>
          </a:prstGeom>
          <a:ln w="6350">
            <a:solidFill>
              <a:srgbClr val="333333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8888" y="969264"/>
            <a:ext cx="97536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grokking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9951" y="432815"/>
            <a:ext cx="54864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" b="1">
                <a:solidFill>
                  <a:srgbClr val="1F4E79"/>
                </a:solidFill>
                <a:latin typeface="맑은 고딕"/>
                <a:ea typeface="맑은 고딕"/>
              </a:rPr>
              <a:t>훈련 정확도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1123" y="579120"/>
            <a:ext cx="54864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" b="1">
                <a:solidFill>
                  <a:srgbClr val="C0392B"/>
                </a:solidFill>
                <a:latin typeface="맑은 고딕"/>
                <a:ea typeface="맑은 고딕"/>
              </a:rPr>
              <a:t>검증 정확도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719" y="1996439"/>
            <a:ext cx="3200400" cy="12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훈련 데이터 암기(①) 이후에도 훈련을 지속하면, 한참 뒤 검증 정확도가 급상승(②)하는 지연된 일반화가 나타난다.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67056"/>
            <a:ext cx="3779519" cy="152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6" b="1">
                <a:solidFill>
                  <a:srgbClr val="333333"/>
                </a:solidFill>
                <a:latin typeface="맑은 고딕"/>
                <a:ea typeface="맑은 고딕"/>
              </a:rPr>
              <a:t>그림 2. 세 가지 정렬 기준의 설계 — 동일 입력, 상이한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23416" y="310896"/>
            <a:ext cx="1219200" cy="97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입력 수열 (순서 없는 모음으로 간주)</a:t>
            </a:r>
          </a:p>
        </p:txBody>
      </p:sp>
      <p:sp>
        <p:nvSpPr>
          <p:cNvPr id="4" name="Rectangle 3"/>
          <p:cNvSpPr/>
          <p:nvPr/>
        </p:nvSpPr>
        <p:spPr>
          <a:xfrm>
            <a:off x="1603247" y="432815"/>
            <a:ext cx="152400" cy="152400"/>
          </a:xfrm>
          <a:prstGeom prst="rect">
            <a:avLst/>
          </a:prstGeom>
          <a:solidFill>
            <a:srgbClr val="FFFFFF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0032" y="432815"/>
            <a:ext cx="152400" cy="152400"/>
          </a:xfrm>
          <a:prstGeom prst="rect">
            <a:avLst/>
          </a:prstGeom>
          <a:solidFill>
            <a:srgbClr val="FFFFFF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956815" y="432815"/>
            <a:ext cx="152400" cy="152400"/>
          </a:xfrm>
          <a:prstGeom prst="rect">
            <a:avLst/>
          </a:prstGeom>
          <a:solidFill>
            <a:srgbClr val="FFFFFF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2133599" y="432815"/>
            <a:ext cx="152400" cy="152400"/>
          </a:xfrm>
          <a:prstGeom prst="rect">
            <a:avLst/>
          </a:prstGeom>
          <a:solidFill>
            <a:srgbClr val="FFFFFF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310383" y="432815"/>
            <a:ext cx="152400" cy="152400"/>
          </a:xfrm>
          <a:prstGeom prst="rect">
            <a:avLst/>
          </a:prstGeom>
          <a:solidFill>
            <a:srgbClr val="FFFFFF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731519" y="624839"/>
            <a:ext cx="1301496" cy="243841"/>
          </a:xfrm>
          <a:prstGeom prst="line">
            <a:avLst/>
          </a:prstGeom>
          <a:ln w="5291">
            <a:solidFill>
              <a:srgbClr val="7777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1919" y="899160"/>
            <a:ext cx="1219200" cy="97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16" b="1">
                <a:solidFill>
                  <a:srgbClr val="333333"/>
                </a:solidFill>
                <a:latin typeface="맑은 고딕"/>
                <a:ea typeface="맑은 고딕"/>
              </a:rPr>
              <a:t>기준 A — 오름차순 정렬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1" y="1036320"/>
            <a:ext cx="152400" cy="152400"/>
          </a:xfrm>
          <a:prstGeom prst="rect">
            <a:avLst/>
          </a:prstGeom>
          <a:solidFill>
            <a:srgbClr val="FFFFFF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8535" y="1036320"/>
            <a:ext cx="152400" cy="152400"/>
          </a:xfrm>
          <a:prstGeom prst="rect">
            <a:avLst/>
          </a:prstGeom>
          <a:solidFill>
            <a:srgbClr val="FFFFFF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19" y="1036320"/>
            <a:ext cx="152400" cy="152400"/>
          </a:xfrm>
          <a:prstGeom prst="rect">
            <a:avLst/>
          </a:prstGeom>
          <a:solidFill>
            <a:srgbClr val="FFFFFF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3" y="1036320"/>
            <a:ext cx="152400" cy="152400"/>
          </a:xfrm>
          <a:prstGeom prst="rect">
            <a:avLst/>
          </a:prstGeom>
          <a:solidFill>
            <a:srgbClr val="FFFFFF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8887" y="1036320"/>
            <a:ext cx="152400" cy="152400"/>
          </a:xfrm>
          <a:prstGeom prst="rect">
            <a:avLst/>
          </a:prstGeom>
          <a:solidFill>
            <a:srgbClr val="FFFFFF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" y="1325879"/>
            <a:ext cx="1249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정렬 키: 항등(값 그대로) · 위치 매핑: 단조</a:t>
            </a:r>
          </a:p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원소 간 비교가 핵심인 기준선 조건이다.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33015" y="624839"/>
            <a:ext cx="0" cy="243841"/>
          </a:xfrm>
          <a:prstGeom prst="line">
            <a:avLst/>
          </a:prstGeom>
          <a:ln w="5291">
            <a:solidFill>
              <a:srgbClr val="7777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23416" y="899160"/>
            <a:ext cx="1219200" cy="97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16" b="1">
                <a:solidFill>
                  <a:srgbClr val="333333"/>
                </a:solidFill>
                <a:latin typeface="맑은 고딕"/>
                <a:ea typeface="맑은 고딕"/>
              </a:rPr>
              <a:t>기준 B — 잉여류 기반 정렬 (mod 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3247" y="1036320"/>
            <a:ext cx="152400" cy="152400"/>
          </a:xfrm>
          <a:prstGeom prst="rect">
            <a:avLst/>
          </a:prstGeom>
          <a:solidFill>
            <a:srgbClr val="DCE6F1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0032" y="1036320"/>
            <a:ext cx="152400" cy="152400"/>
          </a:xfrm>
          <a:prstGeom prst="rect">
            <a:avLst/>
          </a:prstGeom>
          <a:solidFill>
            <a:srgbClr val="FDEBD0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56815" y="1036320"/>
            <a:ext cx="152400" cy="152400"/>
          </a:xfrm>
          <a:prstGeom prst="rect">
            <a:avLst/>
          </a:prstGeom>
          <a:solidFill>
            <a:srgbClr val="FDEBD0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33599" y="1036320"/>
            <a:ext cx="152400" cy="152400"/>
          </a:xfrm>
          <a:prstGeom prst="rect">
            <a:avLst/>
          </a:prstGeom>
          <a:solidFill>
            <a:srgbClr val="FDEBD0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0383" y="1036320"/>
            <a:ext cx="152400" cy="152400"/>
          </a:xfrm>
          <a:prstGeom prst="rect">
            <a:avLst/>
          </a:prstGeom>
          <a:solidFill>
            <a:srgbClr val="D5F5E3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3247" y="1203960"/>
            <a:ext cx="152400" cy="7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0032" y="1203960"/>
            <a:ext cx="152400" cy="7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6815" y="1203960"/>
            <a:ext cx="152400" cy="7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33599" y="1203960"/>
            <a:ext cx="152400" cy="7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10383" y="1203960"/>
            <a:ext cx="152400" cy="7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1325879"/>
            <a:ext cx="1249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정렬 키: 주기(mod 3) · 위치 매핑: 단조</a:t>
            </a:r>
          </a:p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3으로 나눈 나머지(색·아래 숫자)가 작은 수부터,</a:t>
            </a:r>
          </a:p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나머지가 같으면 오름차순으로 배치한다.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33015" y="624839"/>
            <a:ext cx="1289305" cy="243841"/>
          </a:xfrm>
          <a:prstGeom prst="line">
            <a:avLst/>
          </a:prstGeom>
          <a:ln w="5291">
            <a:solidFill>
              <a:srgbClr val="7777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12720" y="899160"/>
            <a:ext cx="1219200" cy="97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16" b="1">
                <a:solidFill>
                  <a:srgbClr val="333333"/>
                </a:solidFill>
                <a:latin typeface="맑은 고딕"/>
                <a:ea typeface="맑은 고딕"/>
              </a:rPr>
              <a:t>기준 C — 최솟값·최댓값 교번 정렬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92552" y="1036320"/>
            <a:ext cx="152400" cy="152400"/>
          </a:xfrm>
          <a:prstGeom prst="rect">
            <a:avLst/>
          </a:prstGeom>
          <a:solidFill>
            <a:srgbClr val="FFFFFF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9336" y="1036320"/>
            <a:ext cx="152400" cy="152400"/>
          </a:xfrm>
          <a:prstGeom prst="rect">
            <a:avLst/>
          </a:prstGeom>
          <a:solidFill>
            <a:srgbClr val="FFFFFF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1036320"/>
            <a:ext cx="152400" cy="152400"/>
          </a:xfrm>
          <a:prstGeom prst="rect">
            <a:avLst/>
          </a:prstGeom>
          <a:solidFill>
            <a:srgbClr val="FFFFFF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2904" y="1036320"/>
            <a:ext cx="152400" cy="152400"/>
          </a:xfrm>
          <a:prstGeom prst="rect">
            <a:avLst/>
          </a:prstGeom>
          <a:solidFill>
            <a:srgbClr val="FFFFFF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99688" y="1036320"/>
            <a:ext cx="152400" cy="152400"/>
          </a:xfrm>
          <a:prstGeom prst="rect">
            <a:avLst/>
          </a:prstGeom>
          <a:solidFill>
            <a:srgbClr val="FFFFFF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66" b="1">
                <a:solidFill>
                  <a:srgbClr val="333333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1325879"/>
            <a:ext cx="1249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정렬 키: 항등 · 위치 매핑: 비단조</a:t>
            </a:r>
          </a:p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최솟값, 최댓값, 2번째 최솟값…의 순으로 교대 배치하여</a:t>
            </a:r>
          </a:p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순위와 출력 위치가 단조 대응하지 않는다.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6719" y="1935479"/>
            <a:ext cx="3200400" cy="12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세 기준은 입력 분포와 입출력 길이를 동일하게 공유하므로, 학습 결과의 차이는 오직 정렬 규칙의 구조에서만 비롯된다.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67056"/>
            <a:ext cx="3779519" cy="152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6" b="1">
                <a:solidFill>
                  <a:srgbClr val="333333"/>
                </a:solidFill>
                <a:latin typeface="맑은 고딕"/>
                <a:ea typeface="맑은 고딕"/>
              </a:rPr>
              <a:t>그림 3. seq2seq Transformer 모델 구조와 embedding 구성 요소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3359" y="609600"/>
            <a:ext cx="579120" cy="3657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291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16" b="1">
                <a:solidFill>
                  <a:srgbClr val="333333"/>
                </a:solidFill>
                <a:latin typeface="맑은 고딕"/>
                <a:ea typeface="맑은 고딕"/>
              </a:rPr>
              <a:t>입력 수열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(3, 1, 4, 1, 5)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19200" y="609600"/>
            <a:ext cx="701040" cy="365759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5291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33" b="1">
                <a:solidFill>
                  <a:srgbClr val="333333"/>
                </a:solidFill>
                <a:latin typeface="맑은 고딕"/>
                <a:ea typeface="맑은 고딕"/>
              </a:rPr>
              <a:t>Encoder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입력 전체를 문맥 표현으로 압축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25040" y="609600"/>
            <a:ext cx="792480" cy="365759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5291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33" b="1">
                <a:solidFill>
                  <a:srgbClr val="333333"/>
                </a:solidFill>
                <a:latin typeface="맑은 고딕"/>
                <a:ea typeface="맑은 고딕"/>
              </a:rPr>
              <a:t>Decoder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출력을 한 토큰씩 자기회귀적으로 생성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2320" y="609600"/>
            <a:ext cx="579120" cy="3657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291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16" b="1">
                <a:solidFill>
                  <a:srgbClr val="333333"/>
                </a:solidFill>
                <a:latin typeface="맑은 고딕"/>
                <a:ea typeface="맑은 고딕"/>
              </a:rPr>
              <a:t>출력 수열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(1, 1, 3, 4, 5)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92480" y="792480"/>
            <a:ext cx="426720" cy="0"/>
          </a:xfrm>
          <a:prstGeom prst="line">
            <a:avLst/>
          </a:prstGeom>
          <a:ln w="7408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20239" y="792480"/>
            <a:ext cx="304801" cy="0"/>
          </a:xfrm>
          <a:prstGeom prst="line">
            <a:avLst/>
          </a:prstGeom>
          <a:ln w="7408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0" y="792480"/>
            <a:ext cx="304800" cy="0"/>
          </a:xfrm>
          <a:prstGeom prst="line">
            <a:avLst/>
          </a:prstGeom>
          <a:ln w="7408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05839" y="1402080"/>
            <a:ext cx="761999" cy="24384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 w="5291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Token Embedding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값 정보 담당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79" y="1402080"/>
            <a:ext cx="883919" cy="243840"/>
          </a:xfrm>
          <a:prstGeom prst="roundRect">
            <a:avLst>
              <a:gd name="adj" fmla="val 12000"/>
            </a:avLst>
          </a:prstGeom>
          <a:solidFill>
            <a:srgbClr val="FDEBD0"/>
          </a:solidFill>
          <a:ln w="5291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Positional Embedding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위치 정보 담당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310639" y="975360"/>
            <a:ext cx="121921" cy="426720"/>
          </a:xfrm>
          <a:prstGeom prst="line">
            <a:avLst/>
          </a:prstGeom>
          <a:ln w="5291">
            <a:solidFill>
              <a:srgbClr val="7777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615440" y="975360"/>
            <a:ext cx="853439" cy="426720"/>
          </a:xfrm>
          <a:prstGeom prst="line">
            <a:avLst/>
          </a:prstGeom>
          <a:ln w="5291">
            <a:solidFill>
              <a:srgbClr val="7777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1706879" y="975360"/>
            <a:ext cx="609601" cy="426720"/>
          </a:xfrm>
          <a:prstGeom prst="line">
            <a:avLst/>
          </a:prstGeom>
          <a:ln w="5291">
            <a:solidFill>
              <a:srgbClr val="7777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621279" y="975360"/>
            <a:ext cx="121921" cy="426720"/>
          </a:xfrm>
          <a:prstGeom prst="line">
            <a:avLst/>
          </a:prstGeom>
          <a:ln w="5291">
            <a:solidFill>
              <a:srgbClr val="7777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5759" y="1752599"/>
            <a:ext cx="335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token embedding은 각 숫자의 값을, positional embedding은 수열 내 위치를 벡터로 표현하며, 두 요소는 encoder와 decoder 모두에 입력된다.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연구 문제 3에서는 두 embedding을 encoder와 decoder별로 하나씩 제거하는 조건을 비교하여 각 요소의 일반화 기여도를 측정한다.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67056"/>
            <a:ext cx="3779519" cy="152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6" b="1">
                <a:solidFill>
                  <a:srgbClr val="333333"/>
                </a:solidFill>
                <a:latin typeface="맑은 고딕"/>
                <a:ea typeface="맑은 고딕"/>
              </a:rPr>
              <a:t>그림 4. Grokking 이후 예상되는 내부 표현 구조 (가설)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79" y="320040"/>
            <a:ext cx="1097280" cy="1432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233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93520" y="320040"/>
            <a:ext cx="1097280" cy="1432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233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04160" y="320040"/>
            <a:ext cx="1097280" cy="1432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233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79" y="365759"/>
            <a:ext cx="1097280" cy="106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16" b="1">
                <a:solidFill>
                  <a:srgbClr val="333333"/>
                </a:solidFill>
                <a:latin typeface="맑은 고딕"/>
                <a:ea typeface="맑은 고딕"/>
              </a:rPr>
              <a:t>기준 A — 크기 순 1차원 배열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9560" y="1051560"/>
            <a:ext cx="883920" cy="0"/>
          </a:xfrm>
          <a:prstGeom prst="line">
            <a:avLst/>
          </a:prstGeom>
          <a:ln w="5291">
            <a:solidFill>
              <a:srgbClr val="7777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18516" y="1034795"/>
            <a:ext cx="33528" cy="33528"/>
          </a:xfrm>
          <a:prstGeom prst="ellipse">
            <a:avLst/>
          </a:prstGeom>
          <a:solidFill>
            <a:srgbClr val="1F4E79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8704" y="923544"/>
            <a:ext cx="73151" cy="7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10" name="Oval 9"/>
          <p:cNvSpPr/>
          <p:nvPr/>
        </p:nvSpPr>
        <p:spPr>
          <a:xfrm>
            <a:off x="416052" y="1034795"/>
            <a:ext cx="33528" cy="33528"/>
          </a:xfrm>
          <a:prstGeom prst="ellipse">
            <a:avLst/>
          </a:prstGeom>
          <a:solidFill>
            <a:srgbClr val="1F4E79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240" y="923544"/>
            <a:ext cx="73151" cy="7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13588" y="1034795"/>
            <a:ext cx="33528" cy="33528"/>
          </a:xfrm>
          <a:prstGeom prst="ellipse">
            <a:avLst/>
          </a:prstGeom>
          <a:solidFill>
            <a:srgbClr val="1F4E79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923544"/>
            <a:ext cx="73151" cy="7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611123" y="1034795"/>
            <a:ext cx="33528" cy="33528"/>
          </a:xfrm>
          <a:prstGeom prst="ellipse">
            <a:avLst/>
          </a:prstGeom>
          <a:solidFill>
            <a:srgbClr val="1F4E79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312" y="923544"/>
            <a:ext cx="73151" cy="7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708659" y="1034795"/>
            <a:ext cx="33528" cy="33528"/>
          </a:xfrm>
          <a:prstGeom prst="ellipse">
            <a:avLst/>
          </a:prstGeom>
          <a:solidFill>
            <a:srgbClr val="1F4E79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847" y="923544"/>
            <a:ext cx="73151" cy="7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806195" y="1034795"/>
            <a:ext cx="33528" cy="33528"/>
          </a:xfrm>
          <a:prstGeom prst="ellipse">
            <a:avLst/>
          </a:prstGeom>
          <a:solidFill>
            <a:srgbClr val="1F4E79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923544"/>
            <a:ext cx="73151" cy="7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903732" y="1034795"/>
            <a:ext cx="33528" cy="33528"/>
          </a:xfrm>
          <a:prstGeom prst="ellipse">
            <a:avLst/>
          </a:prstGeom>
          <a:solidFill>
            <a:srgbClr val="1F4E79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3919" y="923544"/>
            <a:ext cx="73151" cy="7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2" name="Oval 21"/>
          <p:cNvSpPr/>
          <p:nvPr/>
        </p:nvSpPr>
        <p:spPr>
          <a:xfrm>
            <a:off x="1001268" y="1034795"/>
            <a:ext cx="33528" cy="33528"/>
          </a:xfrm>
          <a:prstGeom prst="ellipse">
            <a:avLst/>
          </a:prstGeom>
          <a:solidFill>
            <a:srgbClr val="1F4E79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1455" y="923544"/>
            <a:ext cx="73151" cy="7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24" name="Oval 23"/>
          <p:cNvSpPr/>
          <p:nvPr/>
        </p:nvSpPr>
        <p:spPr>
          <a:xfrm>
            <a:off x="1098804" y="1034795"/>
            <a:ext cx="33528" cy="33528"/>
          </a:xfrm>
          <a:prstGeom prst="ellipse">
            <a:avLst/>
          </a:prstGeom>
          <a:solidFill>
            <a:srgbClr val="1F4E79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923544"/>
            <a:ext cx="73151" cy="7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333333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840" y="1417320"/>
            <a:ext cx="975360" cy="24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token embedding이 값의 크기 순으로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일렬 배열되는 구조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3520" y="365759"/>
            <a:ext cx="1097280" cy="106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16" b="1">
                <a:solidFill>
                  <a:srgbClr val="333333"/>
                </a:solidFill>
                <a:latin typeface="맑은 고딕"/>
                <a:ea typeface="맑은 고딕"/>
              </a:rPr>
              <a:t>기준 B — 잉여류별 군집 / 주기 구조</a:t>
            </a:r>
          </a:p>
        </p:txBody>
      </p:sp>
      <p:sp>
        <p:nvSpPr>
          <p:cNvPr id="28" name="Oval 27"/>
          <p:cNvSpPr/>
          <p:nvPr/>
        </p:nvSpPr>
        <p:spPr>
          <a:xfrm>
            <a:off x="1609344" y="633984"/>
            <a:ext cx="377952" cy="316992"/>
          </a:xfrm>
          <a:prstGeom prst="ellipse">
            <a:avLst/>
          </a:prstGeom>
          <a:solidFill>
            <a:srgbClr val="DCE6F1"/>
          </a:solidFill>
          <a:ln w="4233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0 · 3 · 6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(나머지 0)</a:t>
            </a:r>
          </a:p>
        </p:txBody>
      </p:sp>
      <p:sp>
        <p:nvSpPr>
          <p:cNvPr id="29" name="Oval 28"/>
          <p:cNvSpPr/>
          <p:nvPr/>
        </p:nvSpPr>
        <p:spPr>
          <a:xfrm>
            <a:off x="2097023" y="633984"/>
            <a:ext cx="377952" cy="316992"/>
          </a:xfrm>
          <a:prstGeom prst="ellipse">
            <a:avLst/>
          </a:prstGeom>
          <a:solidFill>
            <a:srgbClr val="FDEBD0"/>
          </a:solidFill>
          <a:ln w="4233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1 · 4 · 7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(나머지 1)</a:t>
            </a:r>
          </a:p>
        </p:txBody>
      </p:sp>
      <p:sp>
        <p:nvSpPr>
          <p:cNvPr id="30" name="Oval 29"/>
          <p:cNvSpPr/>
          <p:nvPr/>
        </p:nvSpPr>
        <p:spPr>
          <a:xfrm>
            <a:off x="1853183" y="1030224"/>
            <a:ext cx="377952" cy="316992"/>
          </a:xfrm>
          <a:prstGeom prst="ellipse">
            <a:avLst/>
          </a:prstGeom>
          <a:solidFill>
            <a:srgbClr val="D5F5E3"/>
          </a:solidFill>
          <a:ln w="4233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2 · 5 · 8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(나머지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1417320"/>
            <a:ext cx="975360" cy="24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3으로 나눈 나머지가 같은 값끼리 뭉치는 군집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또는 주기적 구조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04160" y="365759"/>
            <a:ext cx="1097280" cy="106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16" b="1">
                <a:solidFill>
                  <a:srgbClr val="333333"/>
                </a:solidFill>
                <a:latin typeface="맑은 고딕"/>
                <a:ea typeface="맑은 고딕"/>
              </a:rPr>
              <a:t>기준 C — 순위·위치의 비단조 대응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04160" y="509016"/>
            <a:ext cx="1097280" cy="85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값의 순위 (작은 순)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35223" y="609600"/>
            <a:ext cx="128015" cy="128015"/>
          </a:xfrm>
          <a:prstGeom prst="rect">
            <a:avLst/>
          </a:prstGeom>
          <a:solidFill>
            <a:srgbClr val="DCE6F1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35223" y="1158240"/>
            <a:ext cx="128015" cy="128015"/>
          </a:xfrm>
          <a:prstGeom prst="rect">
            <a:avLst/>
          </a:prstGeom>
          <a:solidFill>
            <a:srgbClr val="F2F2F2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12007" y="609600"/>
            <a:ext cx="128015" cy="128015"/>
          </a:xfrm>
          <a:prstGeom prst="rect">
            <a:avLst/>
          </a:prstGeom>
          <a:solidFill>
            <a:srgbClr val="DCE6F1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12007" y="1158240"/>
            <a:ext cx="128015" cy="128015"/>
          </a:xfrm>
          <a:prstGeom prst="rect">
            <a:avLst/>
          </a:prstGeom>
          <a:solidFill>
            <a:srgbClr val="F2F2F2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88791" y="609600"/>
            <a:ext cx="128015" cy="128015"/>
          </a:xfrm>
          <a:prstGeom prst="rect">
            <a:avLst/>
          </a:prstGeom>
          <a:solidFill>
            <a:srgbClr val="DCE6F1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88791" y="1158240"/>
            <a:ext cx="128015" cy="128015"/>
          </a:xfrm>
          <a:prstGeom prst="rect">
            <a:avLst/>
          </a:prstGeom>
          <a:solidFill>
            <a:srgbClr val="F2F2F2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65575" y="609600"/>
            <a:ext cx="128015" cy="128015"/>
          </a:xfrm>
          <a:prstGeom prst="rect">
            <a:avLst/>
          </a:prstGeom>
          <a:solidFill>
            <a:srgbClr val="DCE6F1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65575" y="1158240"/>
            <a:ext cx="128015" cy="128015"/>
          </a:xfrm>
          <a:prstGeom prst="rect">
            <a:avLst/>
          </a:prstGeom>
          <a:solidFill>
            <a:srgbClr val="F2F2F2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42359" y="609600"/>
            <a:ext cx="128015" cy="128015"/>
          </a:xfrm>
          <a:prstGeom prst="rect">
            <a:avLst/>
          </a:prstGeom>
          <a:solidFill>
            <a:srgbClr val="DCE6F1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42359" y="1158240"/>
            <a:ext cx="128015" cy="128015"/>
          </a:xfrm>
          <a:prstGeom prst="rect">
            <a:avLst/>
          </a:prstGeom>
          <a:solidFill>
            <a:srgbClr val="F2F2F2"/>
          </a:solidFill>
          <a:ln w="4233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92" rIns="12192" tIns="6096" bIns="6096"/>
          <a:lstStyle/>
          <a:p>
            <a:pPr algn="ctr"/>
            <a:r>
              <a:rPr sz="400" b="1">
                <a:solidFill>
                  <a:srgbClr val="333333"/>
                </a:solidFill>
                <a:latin typeface="맑은 고딕"/>
                <a:ea typeface="맑은 고딕"/>
              </a:rPr>
              <a:t>5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999232" y="737616"/>
            <a:ext cx="0" cy="420624"/>
          </a:xfrm>
          <a:prstGeom prst="line">
            <a:avLst/>
          </a:prstGeom>
          <a:ln w="5291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176016" y="737616"/>
            <a:ext cx="176784" cy="420624"/>
          </a:xfrm>
          <a:prstGeom prst="line">
            <a:avLst/>
          </a:prstGeom>
          <a:ln w="5291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352800" y="737616"/>
            <a:ext cx="353567" cy="420624"/>
          </a:xfrm>
          <a:prstGeom prst="line">
            <a:avLst/>
          </a:prstGeom>
          <a:ln w="5291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529584" y="737616"/>
            <a:ext cx="0" cy="420624"/>
          </a:xfrm>
          <a:prstGeom prst="line">
            <a:avLst/>
          </a:prstGeom>
          <a:ln w="5291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3176016" y="737616"/>
            <a:ext cx="530351" cy="420624"/>
          </a:xfrm>
          <a:prstGeom prst="line">
            <a:avLst/>
          </a:prstGeom>
          <a:ln w="5291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804160" y="1310639"/>
            <a:ext cx="1097280" cy="85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출력 위치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65119" y="1463039"/>
            <a:ext cx="975360" cy="24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순위와 출력 위치가 교차 대응하는 구조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6719" y="1859280"/>
            <a:ext cx="3200400" cy="12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선행 연구에서 관찰된 구조에 기반한 가설이며, 차원 축소 및 주기성 분석을 통해 실험적으로 검증한다.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67056"/>
            <a:ext cx="3779519" cy="152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6" b="1">
                <a:solidFill>
                  <a:srgbClr val="333333"/>
                </a:solidFill>
                <a:latin typeface="맑은 고딕"/>
                <a:ea typeface="맑은 고딕"/>
              </a:rPr>
              <a:t>그림 5. 연구 추진 일정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127760"/>
            <a:ext cx="3535679" cy="0"/>
          </a:xfrm>
          <a:prstGeom prst="line">
            <a:avLst/>
          </a:prstGeom>
          <a:ln w="8466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18160" y="1097280"/>
            <a:ext cx="60960" cy="60960"/>
          </a:xfrm>
          <a:prstGeom prst="ellipse">
            <a:avLst/>
          </a:prstGeom>
          <a:solidFill>
            <a:srgbClr val="1F4E79"/>
          </a:solidFill>
          <a:ln w="31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3359" y="655320"/>
            <a:ext cx="670560" cy="106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33" b="1">
                <a:solidFill>
                  <a:srgbClr val="333333"/>
                </a:solidFill>
                <a:latin typeface="맑은 고딕"/>
                <a:ea typeface="맑은 고딕"/>
              </a:rPr>
              <a:t>연구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359" y="761999"/>
            <a:ext cx="670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선행 연구 및 기존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Transformer 코드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280" y="1188720"/>
            <a:ext cx="426719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1">
                <a:solidFill>
                  <a:srgbClr val="1F4E79"/>
                </a:solidFill>
                <a:latin typeface="맑은 고딕"/>
                <a:ea typeface="맑은 고딕"/>
              </a:rPr>
              <a:t>9월 초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1097280"/>
            <a:ext cx="60960" cy="60960"/>
          </a:xfrm>
          <a:prstGeom prst="ellipse">
            <a:avLst/>
          </a:prstGeom>
          <a:solidFill>
            <a:srgbClr val="1F4E79"/>
          </a:solidFill>
          <a:ln w="31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975360"/>
            <a:ext cx="426719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1">
                <a:solidFill>
                  <a:srgbClr val="1F4E79"/>
                </a:solidFill>
                <a:latin typeface="맑은 고딕"/>
                <a:ea typeface="맑은 고딕"/>
              </a:rPr>
              <a:t>9월 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40" y="1203960"/>
            <a:ext cx="670560" cy="106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33" b="1">
                <a:solidFill>
                  <a:srgbClr val="333333"/>
                </a:solidFill>
                <a:latin typeface="맑은 고딕"/>
                <a:ea typeface="맑은 고딕"/>
              </a:rPr>
              <a:t>모델 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640" y="1310639"/>
            <a:ext cx="670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seq2seq 정렬 과제용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Transformer 구현</a:t>
            </a:r>
          </a:p>
        </p:txBody>
      </p:sp>
      <p:sp>
        <p:nvSpPr>
          <p:cNvPr id="12" name="Oval 11"/>
          <p:cNvSpPr/>
          <p:nvPr/>
        </p:nvSpPr>
        <p:spPr>
          <a:xfrm>
            <a:off x="1950720" y="1097280"/>
            <a:ext cx="60960" cy="60960"/>
          </a:xfrm>
          <a:prstGeom prst="ellipse">
            <a:avLst/>
          </a:prstGeom>
          <a:solidFill>
            <a:srgbClr val="1F4E79"/>
          </a:solidFill>
          <a:ln w="31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655320"/>
            <a:ext cx="670560" cy="106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33" b="1">
                <a:solidFill>
                  <a:srgbClr val="333333"/>
                </a:solidFill>
                <a:latin typeface="맑은 고딕"/>
                <a:ea typeface="맑은 고딕"/>
              </a:rPr>
              <a:t>예비 실험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761999"/>
            <a:ext cx="670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Grokking 발현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조건 탐색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7839" y="1188720"/>
            <a:ext cx="426719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1">
                <a:solidFill>
                  <a:srgbClr val="1F4E79"/>
                </a:solidFill>
                <a:latin typeface="맑은 고딕"/>
                <a:ea typeface="맑은 고딕"/>
              </a:rPr>
              <a:t>10월 초</a:t>
            </a:r>
          </a:p>
        </p:txBody>
      </p:sp>
      <p:sp>
        <p:nvSpPr>
          <p:cNvPr id="16" name="Oval 15"/>
          <p:cNvSpPr/>
          <p:nvPr/>
        </p:nvSpPr>
        <p:spPr>
          <a:xfrm>
            <a:off x="2667000" y="1097280"/>
            <a:ext cx="60960" cy="60960"/>
          </a:xfrm>
          <a:prstGeom prst="ellipse">
            <a:avLst/>
          </a:prstGeom>
          <a:solidFill>
            <a:srgbClr val="1F4E79"/>
          </a:solidFill>
          <a:ln w="31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4120" y="975360"/>
            <a:ext cx="426719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1">
                <a:solidFill>
                  <a:srgbClr val="1F4E79"/>
                </a:solidFill>
                <a:latin typeface="맑은 고딕"/>
                <a:ea typeface="맑은 고딕"/>
              </a:rPr>
              <a:t>10월 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2199" y="1203960"/>
            <a:ext cx="670560" cy="106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33" b="1">
                <a:solidFill>
                  <a:srgbClr val="333333"/>
                </a:solidFill>
                <a:latin typeface="맑은 고딕"/>
                <a:ea typeface="맑은 고딕"/>
              </a:rPr>
              <a:t>본 실험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2199" y="1310639"/>
            <a:ext cx="670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연구 문제 1~3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실험 수행</a:t>
            </a:r>
          </a:p>
        </p:txBody>
      </p:sp>
      <p:sp>
        <p:nvSpPr>
          <p:cNvPr id="20" name="Oval 19"/>
          <p:cNvSpPr/>
          <p:nvPr/>
        </p:nvSpPr>
        <p:spPr>
          <a:xfrm>
            <a:off x="3383279" y="1097280"/>
            <a:ext cx="60960" cy="60960"/>
          </a:xfrm>
          <a:prstGeom prst="ellipse">
            <a:avLst/>
          </a:prstGeom>
          <a:solidFill>
            <a:srgbClr val="1F4E79"/>
          </a:solidFill>
          <a:ln w="31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78479" y="655320"/>
            <a:ext cx="670560" cy="106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33" b="1">
                <a:solidFill>
                  <a:srgbClr val="333333"/>
                </a:solidFill>
                <a:latin typeface="맑은 고딕"/>
                <a:ea typeface="맑은 고딕"/>
              </a:rPr>
              <a:t>마무리·발표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8479" y="761999"/>
            <a:ext cx="670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결과 정리, 보고서</a:t>
            </a:r>
          </a:p>
          <a:p>
            <a:pPr algn="ctr"/>
            <a:r>
              <a:rPr sz="400" b="0">
                <a:solidFill>
                  <a:srgbClr val="777777"/>
                </a:solidFill>
                <a:latin typeface="맑은 고딕"/>
                <a:ea typeface="맑은 고딕"/>
              </a:rPr>
              <a:t>및 발표 자료 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1188720"/>
            <a:ext cx="426719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" b="1">
                <a:solidFill>
                  <a:srgbClr val="1F4E79"/>
                </a:solidFill>
                <a:latin typeface="맑은 고딕"/>
                <a:ea typeface="맑은 고딕"/>
              </a:rPr>
              <a:t>11월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
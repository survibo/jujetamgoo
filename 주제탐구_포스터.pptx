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3"/>
  </p:handoutMasterIdLst>
  <p:sldIdLst>
    <p:sldId id="256" r:id="rId2"/>
  </p:sldIdLst>
  <p:sldSz cx="6858000" cy="9144000" type="letter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588" autoAdjust="0"/>
    <p:restoredTop sz="94660"/>
  </p:normalViewPr>
  <p:slideViewPr>
    <p:cSldViewPr snapToGrid="0">
      <p:cViewPr>
        <p:scale>
          <a:sx n="121" d="100"/>
          <a:sy n="121" d="100"/>
        </p:scale>
        <p:origin x="1288" y="-2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876DD-2ECB-4391-8BA8-BB23CD9FC081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867EA-8FFA-47A0-AD6F-42B1679D4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63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순서도: 대체 처리 8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대체 처리 6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3426245" y="3360144"/>
            <a:ext cx="11017" cy="53101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순서도: 대체 처리 15"/>
          <p:cNvSpPr/>
          <p:nvPr userDrawn="1"/>
        </p:nvSpPr>
        <p:spPr>
          <a:xfrm>
            <a:off x="493922" y="3005768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탐구 제안서</a:t>
            </a:r>
          </a:p>
        </p:txBody>
      </p:sp>
    </p:spTree>
    <p:extLst>
      <p:ext uri="{BB962C8B-B14F-4D97-AF65-F5344CB8AC3E}">
        <p14:creationId xmlns:p14="http://schemas.microsoft.com/office/powerpoint/2010/main" val="3113479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539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715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67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56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862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833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35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030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518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2026. 7. 2.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788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대체 처리 6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대체 처리 7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396606" y="3125117"/>
            <a:ext cx="6178627" cy="569939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324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" y="691817"/>
            <a:ext cx="5852160" cy="85664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정렬에서의 </a:t>
            </a:r>
            <a:r>
              <a:rPr lang="en-US" altLang="ko-KR" sz="2400" b="1" dirty="0">
                <a:solidFill>
                  <a:srgbClr val="1F2937"/>
                </a:solidFill>
                <a:latin typeface="맑은 고딕"/>
                <a:ea typeface="맑은 고딕"/>
              </a:rPr>
              <a:t>Grokking :</a:t>
            </a:r>
          </a:p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일반화 조건과 내부 구조 분석</a:t>
            </a:r>
            <a:endParaRPr sz="24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5128" y="2058619"/>
            <a:ext cx="4193628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800" dirty="0"/>
              <a:t>인공지능은 처음에는 문제의 답을 외우기만 하다가</a:t>
            </a:r>
            <a:r>
              <a:rPr lang="en-US" altLang="ko-KR" sz="800" dirty="0"/>
              <a:t>, </a:t>
            </a:r>
            <a:r>
              <a:rPr lang="ko-KR" altLang="en-US" sz="800" dirty="0"/>
              <a:t>훈련을 더 지속하면 갑자기 규칙 자체를 깨우쳐 처음 보는 문제를 풀어내는데</a:t>
            </a:r>
            <a:r>
              <a:rPr lang="en-US" altLang="ko-KR" sz="800" dirty="0"/>
              <a:t>, </a:t>
            </a:r>
            <a:r>
              <a:rPr lang="ko-KR" altLang="en-US" sz="800" dirty="0"/>
              <a:t>이 현상을 </a:t>
            </a:r>
            <a:r>
              <a:rPr lang="en-US" altLang="ko-KR" sz="800" dirty="0"/>
              <a:t>'</a:t>
            </a:r>
            <a:r>
              <a:rPr lang="en" altLang="ko-KR" sz="800" dirty="0"/>
              <a:t>Grokking'</a:t>
            </a:r>
            <a:r>
              <a:rPr lang="ko-KR" altLang="en-US" sz="800" dirty="0"/>
              <a:t>이라고 부른다</a:t>
            </a:r>
            <a:r>
              <a:rPr lang="en-US" altLang="ko-KR" sz="800" dirty="0"/>
              <a:t>. </a:t>
            </a:r>
            <a:r>
              <a:rPr lang="ko-KR" altLang="en-US" sz="800" dirty="0"/>
              <a:t>지금까지의 연구는 대부분 </a:t>
            </a:r>
            <a:r>
              <a:rPr lang="en-US" altLang="ko-KR" sz="800" dirty="0"/>
              <a:t>"</a:t>
            </a:r>
            <a:r>
              <a:rPr lang="ko-KR" altLang="en-US" sz="800" dirty="0"/>
              <a:t>두 숫자를 계산해 답 하나를 내는</a:t>
            </a:r>
            <a:r>
              <a:rPr lang="en-US" altLang="ko-KR" sz="800" dirty="0"/>
              <a:t>" </a:t>
            </a:r>
            <a:r>
              <a:rPr lang="ko-KR" altLang="en-US" sz="800" dirty="0"/>
              <a:t>단순한 문제에 머물러 있다</a:t>
            </a:r>
            <a:r>
              <a:rPr lang="en-US" altLang="ko-KR" sz="800" dirty="0"/>
              <a:t>. </a:t>
            </a:r>
            <a:r>
              <a:rPr lang="ko-KR" altLang="en-US" sz="800" dirty="0"/>
              <a:t>본 연구는 여러 숫자를 받아 순서대로 재배열해야 하는 정렬 같은 과제에서도 </a:t>
            </a:r>
            <a:r>
              <a:rPr lang="en-US" altLang="ko-KR" sz="800" dirty="0"/>
              <a:t>Grokking</a:t>
            </a:r>
            <a:r>
              <a:rPr lang="ko-KR" altLang="en-US" sz="800" dirty="0"/>
              <a:t>이 일어나는지 연구한다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위해 정렬 규칙의 복잡한 정도를 바꿔가며 인공지능</a:t>
            </a:r>
            <a:r>
              <a:rPr lang="en-US" altLang="ko-KR" sz="800" dirty="0"/>
              <a:t>(</a:t>
            </a:r>
            <a:r>
              <a:rPr lang="en" altLang="ko-KR" sz="800" dirty="0"/>
              <a:t>Transformer</a:t>
            </a:r>
            <a:r>
              <a:rPr lang="ko-KR" altLang="en-US" sz="800" dirty="0"/>
              <a:t> 모델</a:t>
            </a:r>
            <a:r>
              <a:rPr lang="en" altLang="ko-KR" sz="800" dirty="0"/>
              <a:t>)</a:t>
            </a:r>
            <a:r>
              <a:rPr lang="ko-KR" altLang="en-US" sz="800" dirty="0"/>
              <a:t>을 훈련시키고</a:t>
            </a:r>
            <a:r>
              <a:rPr lang="en-US" altLang="ko-KR" sz="800" dirty="0"/>
              <a:t>, </a:t>
            </a:r>
            <a:r>
              <a:rPr lang="ko-KR" altLang="en-US" sz="800" dirty="0"/>
              <a:t>규칙을 깨우친 모델의 내부에서 어떤 표현 구조가 만들어지는지 분석한다</a:t>
            </a:r>
            <a:r>
              <a:rPr lang="en-US" altLang="ko-KR" sz="800" dirty="0"/>
              <a:t>. </a:t>
            </a:r>
            <a:endParaRPr lang="ko-KR" alt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4937760" y="1946566"/>
            <a:ext cx="1536192" cy="89832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팀명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어텐션</a:t>
            </a:r>
            <a:endParaRPr lang="en-US" altLang="ko-KR" sz="1100" dirty="0"/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팀원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김서혁</a:t>
            </a:r>
            <a:r>
              <a:rPr lang="en-US" altLang="ko-KR" sz="1100" dirty="0">
                <a:solidFill>
                  <a:srgbClr val="555F6E"/>
                </a:solidFill>
                <a:latin typeface="맑은 고딕"/>
                <a:ea typeface="맑은 고딕"/>
              </a:rPr>
              <a:t>,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 손영우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지도교사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김준우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3401568"/>
            <a:ext cx="2788920" cy="5264912"/>
          </a:xfrm>
          <a:prstGeom prst="rect">
            <a:avLst/>
          </a:prstGeom>
          <a:noFill/>
        </p:spPr>
        <p:txBody>
          <a:bodyPr wrap="square" lIns="0" rIns="0" rtlCol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①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Grokking이란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?</a:t>
            </a:r>
            <a:endParaRPr lang="en-US" altLang="ko-KR" dirty="0"/>
          </a:p>
          <a:p>
            <a:pPr>
              <a:spcAft>
                <a:spcPts val="600"/>
              </a:spcAft>
            </a:pPr>
            <a:r>
              <a:rPr lang="ko-KR" altLang="en-US" sz="800" dirty="0">
                <a:latin typeface="맑은 고딕"/>
                <a:ea typeface="맑은 고딕"/>
              </a:rPr>
              <a:t>신경망은 일반적으로 훈련 데이터를 먼저 암기하는 상태에 도달하며</a:t>
            </a:r>
            <a:r>
              <a:rPr lang="en-US" altLang="ko-KR" sz="800" dirty="0">
                <a:latin typeface="맑은 고딕"/>
                <a:ea typeface="맑은 고딕"/>
              </a:rPr>
              <a:t>, </a:t>
            </a:r>
            <a:r>
              <a:rPr lang="ko-KR" altLang="en-US" sz="800" dirty="0">
                <a:latin typeface="맑은 고딕"/>
                <a:ea typeface="맑은 고딕"/>
              </a:rPr>
              <a:t>이 상태에서는 훈련 문제는 모두 맞히지만 처음 보는 문제는 풀지 못한다</a:t>
            </a:r>
            <a:r>
              <a:rPr lang="en-US" altLang="ko-KR" sz="800" dirty="0">
                <a:latin typeface="맑은 고딕"/>
                <a:ea typeface="맑은 고딕"/>
              </a:rPr>
              <a:t>. </a:t>
            </a:r>
            <a:r>
              <a:rPr lang="ko-KR" altLang="en-US" sz="800" dirty="0">
                <a:latin typeface="맑은 고딕"/>
                <a:ea typeface="맑은 고딕"/>
              </a:rPr>
              <a:t>그러나 이 시점 이후에도 훈련을 계속하면</a:t>
            </a:r>
            <a:r>
              <a:rPr lang="en-US" altLang="ko-KR" sz="800" dirty="0">
                <a:latin typeface="맑은 고딕"/>
                <a:ea typeface="맑은 고딕"/>
              </a:rPr>
              <a:t>, </a:t>
            </a:r>
            <a:r>
              <a:rPr lang="ko-KR" altLang="en-US" sz="800" dirty="0">
                <a:latin typeface="맑은 고딕"/>
                <a:ea typeface="맑은 고딕"/>
              </a:rPr>
              <a:t>특정 조건에서 검증 정확도가 갑자기 상승하며 규칙 자체를 학습하는 현상이 나타난다</a:t>
            </a:r>
            <a:r>
              <a:rPr lang="en-US" altLang="ko-KR" sz="800" dirty="0">
                <a:latin typeface="맑은 고딕"/>
                <a:ea typeface="맑은 고딕"/>
              </a:rPr>
              <a:t>. </a:t>
            </a:r>
            <a:r>
              <a:rPr lang="ko-KR" altLang="en-US" sz="800" dirty="0">
                <a:latin typeface="맑은 고딕"/>
                <a:ea typeface="맑은 고딕"/>
              </a:rPr>
              <a:t>이러한 지연된 일반화 현상을 </a:t>
            </a:r>
            <a:r>
              <a:rPr lang="en" sz="800" dirty="0">
                <a:latin typeface="맑은 고딕"/>
                <a:ea typeface="맑은 고딕"/>
              </a:rPr>
              <a:t>Grokking</a:t>
            </a:r>
            <a:r>
              <a:rPr lang="ko-KR" altLang="en-US" sz="800" dirty="0">
                <a:latin typeface="맑은 고딕"/>
                <a:ea typeface="맑은 고딕"/>
              </a:rPr>
              <a:t>이라 한다</a:t>
            </a:r>
            <a:r>
              <a:rPr lang="en-US" altLang="ko-KR" sz="80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spcAft>
                <a:spcPts val="600"/>
              </a:spcAft>
            </a:pPr>
            <a:endParaRPr lang="en-US" altLang="ko-KR" sz="500" dirty="0"/>
          </a:p>
          <a:p>
            <a:pPr algn="r">
              <a:spcAft>
                <a:spcPts val="1400"/>
              </a:spcAft>
            </a:pPr>
            <a:r>
              <a:rPr lang="ko-KR" altLang="ko-KR" sz="500" dirty="0"/>
              <a:t>출처: Google PAIR, "</a:t>
            </a:r>
            <a:r>
              <a:rPr lang="ko-KR" altLang="ko-KR" sz="500" dirty="0" err="1"/>
              <a:t>Do</a:t>
            </a:r>
            <a:r>
              <a:rPr lang="ko-KR" altLang="ko-KR" sz="500" dirty="0"/>
              <a:t> </a:t>
            </a:r>
            <a:r>
              <a:rPr lang="ko-KR" altLang="ko-KR" sz="500" dirty="0" err="1"/>
              <a:t>Machine</a:t>
            </a:r>
            <a:r>
              <a:rPr lang="ko-KR" altLang="ko-KR" sz="500" dirty="0"/>
              <a:t> </a:t>
            </a:r>
            <a:r>
              <a:rPr lang="ko-KR" altLang="ko-KR" sz="500" dirty="0" err="1"/>
              <a:t>Learning</a:t>
            </a:r>
            <a:r>
              <a:rPr lang="ko-KR" altLang="ko-KR" sz="500" dirty="0"/>
              <a:t> </a:t>
            </a:r>
            <a:r>
              <a:rPr lang="ko-KR" altLang="ko-KR" sz="500" dirty="0" err="1"/>
              <a:t>Models</a:t>
            </a:r>
            <a:r>
              <a:rPr lang="ko-KR" altLang="ko-KR" sz="500" dirty="0"/>
              <a:t> </a:t>
            </a:r>
            <a:r>
              <a:rPr lang="ko-KR" altLang="ko-KR" sz="500" dirty="0" err="1"/>
              <a:t>Memorize</a:t>
            </a:r>
            <a:r>
              <a:rPr lang="ko-KR" altLang="ko-KR" sz="500" dirty="0"/>
              <a:t> </a:t>
            </a:r>
            <a:r>
              <a:rPr lang="ko-KR" altLang="ko-KR" sz="500" dirty="0" err="1"/>
              <a:t>or</a:t>
            </a:r>
            <a:r>
              <a:rPr lang="ko-KR" altLang="ko-KR" sz="500" dirty="0"/>
              <a:t> </a:t>
            </a:r>
            <a:r>
              <a:rPr lang="ko-KR" altLang="ko-KR" sz="500" dirty="0" err="1"/>
              <a:t>Generalize</a:t>
            </a:r>
            <a:r>
              <a:rPr lang="ko-KR" altLang="ko-KR" sz="500" dirty="0"/>
              <a:t>?" (2023)</a:t>
            </a:r>
            <a:endParaRPr lang="ko-KR" altLang="en-US" sz="50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기존연구와 차별성 및 독창성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800" dirty="0"/>
              <a:t>기존 </a:t>
            </a:r>
            <a:r>
              <a:rPr lang="en" altLang="ko-KR" sz="800" dirty="0"/>
              <a:t>Grokking </a:t>
            </a:r>
            <a:r>
              <a:rPr lang="ko-KR" altLang="en-US" sz="800" dirty="0"/>
              <a:t>연구는 두 정수를 연산한 결과를 하나의 답으로 예측하는 나머지 연산 문제에 집중되어 왔다</a:t>
            </a:r>
            <a:r>
              <a:rPr lang="en-US" altLang="ko-KR" sz="800" dirty="0"/>
              <a:t>. </a:t>
            </a:r>
            <a:r>
              <a:rPr lang="ko-KR" altLang="en-US" sz="800" dirty="0"/>
              <a:t>그러나 </a:t>
            </a:r>
            <a:r>
              <a:rPr lang="en-US" altLang="ko-KR" sz="800" dirty="0"/>
              <a:t>(3, 1, 4, 1, 5) → (1, 1, 3, 4, 5)</a:t>
            </a:r>
            <a:r>
              <a:rPr lang="ko-KR" altLang="en-US" sz="800" dirty="0"/>
              <a:t>와 같이 출력 전체가 순서를 갖는 수열인 과제에서 </a:t>
            </a:r>
            <a:r>
              <a:rPr lang="en" altLang="ko-KR" sz="800" dirty="0"/>
              <a:t>Grokking</a:t>
            </a:r>
            <a:r>
              <a:rPr lang="ko-KR" altLang="en-US" sz="800" dirty="0"/>
              <a:t>이 발생하는지는 아직 규명되지 않았다</a:t>
            </a:r>
            <a:r>
              <a:rPr lang="en-US" altLang="ko-KR" sz="800" dirty="0"/>
              <a:t>. </a:t>
            </a:r>
            <a:r>
              <a:rPr lang="ko-KR" altLang="en-US" sz="800" dirty="0"/>
              <a:t>정렬은 원소 간 비교와 자리 배치라는 구조를 내재하며</a:t>
            </a:r>
            <a:r>
              <a:rPr lang="en-US" altLang="ko-KR" sz="800" dirty="0"/>
              <a:t>, </a:t>
            </a:r>
            <a:r>
              <a:rPr lang="ko-KR" altLang="en-US" sz="800" dirty="0"/>
              <a:t>출력 수열 전체에 걸쳐 일관성이 유지되어야 하므로 단일 답 예측과는 본질적으로 다른 과제이다</a:t>
            </a:r>
            <a:r>
              <a:rPr lang="en-US" altLang="ko-KR" sz="800" dirty="0"/>
              <a:t>. </a:t>
            </a:r>
            <a:r>
              <a:rPr lang="ko-KR" altLang="en-US" sz="800" dirty="0"/>
              <a:t>본 연구는 정렬 과제를 대상으로 </a:t>
            </a:r>
            <a:r>
              <a:rPr lang="en" altLang="ko-KR" sz="800" dirty="0"/>
              <a:t>Grokking</a:t>
            </a:r>
            <a:r>
              <a:rPr lang="ko-KR" altLang="en-US" sz="800" dirty="0"/>
              <a:t>의 발현 여부를 검증하고</a:t>
            </a:r>
            <a:r>
              <a:rPr lang="en-US" altLang="ko-KR" sz="800" dirty="0"/>
              <a:t>, </a:t>
            </a:r>
            <a:r>
              <a:rPr lang="ko-KR" altLang="en-US" sz="800" dirty="0"/>
              <a:t>그 내부 구조를 분석한다</a:t>
            </a:r>
            <a:r>
              <a:rPr lang="en-US" altLang="ko-KR" sz="800" dirty="0"/>
              <a:t>.</a:t>
            </a:r>
          </a:p>
          <a:p>
            <a:pPr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연구문제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800" b="1" dirty="0">
                <a:latin typeface="맑은 고딕"/>
                <a:ea typeface="맑은 고딕"/>
              </a:rPr>
              <a:t>[</a:t>
            </a:r>
            <a:r>
              <a:rPr lang="ko-KR" altLang="en-US" sz="800" b="1" dirty="0">
                <a:latin typeface="맑은 고딕"/>
                <a:ea typeface="맑은 고딕"/>
              </a:rPr>
              <a:t>연구 문제 </a:t>
            </a:r>
            <a:r>
              <a:rPr lang="en-US" altLang="ko-KR" sz="800" b="1" dirty="0">
                <a:latin typeface="맑은 고딕"/>
                <a:ea typeface="맑은 고딕"/>
              </a:rPr>
              <a:t>1]</a:t>
            </a:r>
            <a:r>
              <a:rPr lang="en-US" altLang="ko-KR" sz="800" dirty="0">
                <a:latin typeface="맑은 고딕"/>
                <a:ea typeface="맑은 고딕"/>
              </a:rPr>
              <a:t> </a:t>
            </a:r>
            <a:r>
              <a:rPr lang="ko-KR" altLang="en-US" sz="800" dirty="0">
                <a:latin typeface="맑은 고딕"/>
                <a:ea typeface="맑은 고딕"/>
              </a:rPr>
              <a:t>정렬 과제에서 </a:t>
            </a:r>
            <a:r>
              <a:rPr lang="en" sz="800" dirty="0">
                <a:latin typeface="맑은 고딕"/>
                <a:ea typeface="맑은 고딕"/>
              </a:rPr>
              <a:t>Grokking</a:t>
            </a:r>
            <a:r>
              <a:rPr lang="ko-KR" altLang="en-US" sz="800" dirty="0">
                <a:latin typeface="맑은 고딕"/>
                <a:ea typeface="맑은 고딕"/>
              </a:rPr>
              <a:t>이 발현되는가</a:t>
            </a:r>
            <a:r>
              <a:rPr lang="en-US" altLang="ko-KR" sz="800" dirty="0">
                <a:latin typeface="맑은 고딕"/>
                <a:ea typeface="맑은 고딕"/>
              </a:rPr>
              <a:t>? </a:t>
            </a:r>
            <a:r>
              <a:rPr lang="ko-KR" altLang="en-US" sz="800" dirty="0">
                <a:latin typeface="맑은 고딕"/>
                <a:ea typeface="맑은 고딕"/>
              </a:rPr>
              <a:t>정렬 규칙의 구조가 </a:t>
            </a:r>
            <a:r>
              <a:rPr lang="ko-KR" altLang="en-US" sz="800" dirty="0" err="1">
                <a:latin typeface="맑은 고딕"/>
                <a:ea typeface="맑은 고딕"/>
              </a:rPr>
              <a:t>복잡해질수록</a:t>
            </a:r>
            <a:r>
              <a:rPr lang="ko-KR" altLang="en-US" sz="800" dirty="0">
                <a:latin typeface="맑은 고딕"/>
                <a:ea typeface="맑은 고딕"/>
              </a:rPr>
              <a:t> 발현 여부와 발현 시점이 어떻게 달라지는가</a:t>
            </a:r>
            <a:r>
              <a:rPr lang="en-US" altLang="ko-KR" sz="800" dirty="0">
                <a:latin typeface="맑은 고딕"/>
                <a:ea typeface="맑은 고딕"/>
              </a:rPr>
              <a:t>?</a:t>
            </a:r>
          </a:p>
          <a:p>
            <a:pPr>
              <a:spcAft>
                <a:spcPts val="300"/>
              </a:spcAft>
            </a:pPr>
            <a:r>
              <a:rPr lang="en-US" altLang="ko-KR" sz="800" b="1" dirty="0">
                <a:latin typeface="맑은 고딕"/>
                <a:ea typeface="맑은 고딕"/>
              </a:rPr>
              <a:t>[</a:t>
            </a:r>
            <a:r>
              <a:rPr lang="ko-KR" altLang="en-US" sz="800" b="1" dirty="0">
                <a:latin typeface="맑은 고딕"/>
                <a:ea typeface="맑은 고딕"/>
              </a:rPr>
              <a:t>연구 문제 </a:t>
            </a:r>
            <a:r>
              <a:rPr lang="en-US" altLang="ko-KR" sz="800" b="1" dirty="0">
                <a:latin typeface="맑은 고딕"/>
                <a:ea typeface="맑은 고딕"/>
              </a:rPr>
              <a:t>2] </a:t>
            </a:r>
            <a:r>
              <a:rPr lang="en" sz="800" dirty="0">
                <a:latin typeface="맑은 고딕"/>
                <a:ea typeface="맑은 고딕"/>
              </a:rPr>
              <a:t>Grokking</a:t>
            </a:r>
            <a:r>
              <a:rPr lang="ko-KR" altLang="en-US" sz="800" dirty="0">
                <a:latin typeface="맑은 고딕"/>
                <a:ea typeface="맑은 고딕"/>
              </a:rPr>
              <a:t>이 완료된 모델의 내부 표현은 어떤 구조를 가지는가</a:t>
            </a:r>
            <a:r>
              <a:rPr lang="en-US" altLang="ko-KR" sz="800" dirty="0">
                <a:latin typeface="맑은 고딕"/>
                <a:ea typeface="맑은 고딕"/>
              </a:rPr>
              <a:t>? ▎</a:t>
            </a:r>
          </a:p>
          <a:p>
            <a:pPr>
              <a:spcAft>
                <a:spcPts val="300"/>
              </a:spcAft>
            </a:pPr>
            <a:r>
              <a:rPr lang="en-US" altLang="ko-KR" sz="800" b="1" dirty="0">
                <a:latin typeface="맑은 고딕"/>
                <a:ea typeface="맑은 고딕"/>
              </a:rPr>
              <a:t>[</a:t>
            </a:r>
            <a:r>
              <a:rPr lang="ko-KR" altLang="en-US" sz="800" b="1" dirty="0">
                <a:latin typeface="맑은 고딕"/>
                <a:ea typeface="맑은 고딕"/>
              </a:rPr>
              <a:t>연구 문제 </a:t>
            </a:r>
            <a:r>
              <a:rPr lang="en-US" altLang="ko-KR" sz="800" b="1" dirty="0">
                <a:latin typeface="맑은 고딕"/>
                <a:ea typeface="맑은 고딕"/>
              </a:rPr>
              <a:t>3] </a:t>
            </a:r>
            <a:r>
              <a:rPr lang="ko-KR" altLang="en-US" sz="800" dirty="0">
                <a:latin typeface="맑은 고딕"/>
                <a:ea typeface="맑은 고딕"/>
              </a:rPr>
              <a:t>값 정보를 담당하는 </a:t>
            </a:r>
            <a:r>
              <a:rPr lang="en" sz="800" dirty="0">
                <a:latin typeface="맑은 고딕"/>
                <a:ea typeface="맑은 고딕"/>
              </a:rPr>
              <a:t>token embedding</a:t>
            </a:r>
            <a:r>
              <a:rPr lang="ko-KR" altLang="en-US" sz="800" dirty="0">
                <a:latin typeface="맑은 고딕"/>
                <a:ea typeface="맑은 고딕"/>
              </a:rPr>
              <a:t>과 위치 정보를 담당하는 </a:t>
            </a:r>
            <a:r>
              <a:rPr lang="en" sz="800" dirty="0">
                <a:latin typeface="맑은 고딕"/>
                <a:ea typeface="맑은 고딕"/>
              </a:rPr>
              <a:t>positional embedding</a:t>
            </a:r>
            <a:r>
              <a:rPr lang="ko-KR" altLang="en-US" sz="800" dirty="0">
                <a:latin typeface="맑은 고딕"/>
                <a:ea typeface="맑은 고딕"/>
              </a:rPr>
              <a:t>은 일반화에 각각 어떤 기여를 하는가</a:t>
            </a:r>
            <a:r>
              <a:rPr lang="en-US" altLang="ko-KR" sz="800" dirty="0">
                <a:latin typeface="맑은 고딕"/>
                <a:ea typeface="맑은 고딕"/>
              </a:rPr>
              <a:t>? </a:t>
            </a:r>
            <a:endParaRPr sz="800" b="0" dirty="0"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6160" y="3401568"/>
            <a:ext cx="2834640" cy="285975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실험설계 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—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세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가지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정렬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기준</a:t>
            </a: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900" dirty="0"/>
              <a:t>정렬 기준은 서로 독립적인 두 축을 설정한다</a:t>
            </a:r>
            <a:r>
              <a:rPr lang="en-US" altLang="ko-KR" sz="900" dirty="0"/>
              <a:t>.</a:t>
            </a:r>
          </a:p>
          <a:p>
            <a:pPr>
              <a:spcAft>
                <a:spcPts val="300"/>
              </a:spcAft>
            </a:pPr>
            <a:r>
              <a:rPr lang="ko-KR" altLang="en-US" sz="900" b="1" dirty="0">
                <a:latin typeface="맑은 고딕"/>
                <a:ea typeface="맑은 고딕"/>
              </a:rPr>
              <a:t>정렬 키 축</a:t>
            </a:r>
            <a:r>
              <a:rPr lang="ko-KR" altLang="en-US" sz="900" dirty="0">
                <a:latin typeface="맑은 고딕"/>
                <a:ea typeface="맑은 고딕"/>
              </a:rPr>
              <a:t> </a:t>
            </a:r>
            <a:r>
              <a:rPr lang="en-US" altLang="ko-KR" sz="900" dirty="0">
                <a:latin typeface="맑은 고딕"/>
                <a:ea typeface="맑은 고딕"/>
              </a:rPr>
              <a:t>-</a:t>
            </a:r>
            <a:r>
              <a:rPr lang="ko-KR" altLang="en-US" sz="900" dirty="0">
                <a:latin typeface="맑은 고딕"/>
                <a:ea typeface="맑은 고딕"/>
              </a:rPr>
              <a:t> </a:t>
            </a:r>
            <a:r>
              <a:rPr lang="ko-KR" altLang="en-US" sz="900" dirty="0" err="1">
                <a:latin typeface="맑은 고딕"/>
                <a:ea typeface="맑은 고딕"/>
              </a:rPr>
              <a:t>항등</a:t>
            </a:r>
            <a:r>
              <a:rPr lang="en-US" altLang="ko-KR" sz="900" dirty="0">
                <a:latin typeface="맑은 고딕"/>
                <a:ea typeface="맑은 고딕"/>
              </a:rPr>
              <a:t>(</a:t>
            </a:r>
            <a:r>
              <a:rPr lang="ko-KR" altLang="en-US" sz="900" dirty="0">
                <a:latin typeface="맑은 고딕"/>
                <a:ea typeface="맑은 고딕"/>
              </a:rPr>
              <a:t>오름차순</a:t>
            </a:r>
            <a:r>
              <a:rPr lang="en-US" altLang="ko-KR" sz="900" dirty="0">
                <a:latin typeface="맑은 고딕"/>
                <a:ea typeface="맑은 고딕"/>
              </a:rPr>
              <a:t>) /</a:t>
            </a:r>
            <a:r>
              <a:rPr lang="ko-KR" altLang="en-US" sz="900" dirty="0">
                <a:latin typeface="맑은 고딕"/>
                <a:ea typeface="맑은 고딕"/>
              </a:rPr>
              <a:t> 주기</a:t>
            </a:r>
            <a:r>
              <a:rPr lang="en-US" altLang="ko-KR" sz="900" dirty="0">
                <a:latin typeface="맑은 고딕"/>
                <a:ea typeface="맑은 고딕"/>
              </a:rPr>
              <a:t>(mod</a:t>
            </a:r>
            <a:r>
              <a:rPr lang="ko-KR" altLang="en-US" sz="900" dirty="0">
                <a:latin typeface="맑은 고딕"/>
                <a:ea typeface="맑은 고딕"/>
              </a:rPr>
              <a:t> 기반</a:t>
            </a:r>
            <a:r>
              <a:rPr lang="en-US" altLang="ko-KR" sz="90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r>
              <a:rPr lang="ko-KR" altLang="en-US" sz="900" b="1" dirty="0">
                <a:latin typeface="맑은 고딕"/>
                <a:ea typeface="맑은 고딕"/>
              </a:rPr>
              <a:t>매핑 축     </a:t>
            </a:r>
            <a:r>
              <a:rPr lang="en-US" altLang="ko-KR" sz="900" dirty="0">
                <a:latin typeface="맑은 고딕"/>
                <a:ea typeface="맑은 고딕"/>
              </a:rPr>
              <a:t>-</a:t>
            </a:r>
            <a:r>
              <a:rPr lang="ko-KR" altLang="en-US" sz="900" dirty="0">
                <a:latin typeface="맑은 고딕"/>
                <a:ea typeface="맑은 고딕"/>
              </a:rPr>
              <a:t> 단조</a:t>
            </a:r>
            <a:r>
              <a:rPr lang="en-US" altLang="ko-KR" sz="900" dirty="0">
                <a:latin typeface="맑은 고딕"/>
                <a:ea typeface="맑은 고딕"/>
              </a:rPr>
              <a:t>(</a:t>
            </a:r>
            <a:r>
              <a:rPr lang="ko-KR" altLang="en-US" sz="900" dirty="0">
                <a:latin typeface="맑은 고딕"/>
                <a:ea typeface="맑은 고딕"/>
              </a:rPr>
              <a:t>순서대로</a:t>
            </a:r>
            <a:r>
              <a:rPr lang="en-US" altLang="ko-KR" sz="900" dirty="0">
                <a:latin typeface="맑은 고딕"/>
                <a:ea typeface="맑은 고딕"/>
              </a:rPr>
              <a:t>)</a:t>
            </a:r>
            <a:r>
              <a:rPr lang="ko-KR" altLang="en-US" sz="900" dirty="0">
                <a:latin typeface="맑은 고딕"/>
                <a:ea typeface="맑은 고딕"/>
              </a:rPr>
              <a:t> </a:t>
            </a:r>
            <a:r>
              <a:rPr lang="en-US" altLang="ko-KR" sz="900" dirty="0">
                <a:latin typeface="맑은 고딕"/>
                <a:ea typeface="맑은 고딕"/>
              </a:rPr>
              <a:t>/</a:t>
            </a:r>
            <a:r>
              <a:rPr lang="ko-KR" altLang="en-US" sz="900" dirty="0">
                <a:latin typeface="맑은 고딕"/>
                <a:ea typeface="맑은 고딕"/>
              </a:rPr>
              <a:t> </a:t>
            </a:r>
            <a:r>
              <a:rPr lang="ko-KR" altLang="en-US" sz="900" dirty="0" err="1">
                <a:latin typeface="맑은 고딕"/>
                <a:ea typeface="맑은 고딕"/>
              </a:rPr>
              <a:t>비단조</a:t>
            </a:r>
            <a:r>
              <a:rPr lang="en-US" altLang="ko-KR" sz="900" dirty="0">
                <a:latin typeface="맑은 고딕"/>
                <a:ea typeface="맑은 고딕"/>
              </a:rPr>
              <a:t>(</a:t>
            </a:r>
            <a:r>
              <a:rPr lang="ko-KR" altLang="en-US" sz="900" dirty="0">
                <a:latin typeface="맑은 고딕"/>
                <a:ea typeface="맑은 고딕"/>
              </a:rPr>
              <a:t>교번</a:t>
            </a:r>
            <a:r>
              <a:rPr lang="en-US" altLang="ko-KR" sz="90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lang="en-US" altLang="ko-KR" dirty="0"/>
          </a:p>
          <a:p>
            <a:pPr algn="l">
              <a:spcAft>
                <a:spcPts val="300"/>
              </a:spcAft>
            </a:pPr>
            <a:endParaRPr lang="en-US" altLang="ko-KR" dirty="0"/>
          </a:p>
          <a:p>
            <a:pPr>
              <a:spcAft>
                <a:spcPts val="300"/>
              </a:spcAft>
            </a:pPr>
            <a:endParaRPr lang="en-US" altLang="ko-KR" sz="8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800" dirty="0">
                <a:latin typeface="맑은 고딕"/>
                <a:ea typeface="맑은 고딕"/>
              </a:rPr>
              <a:t>이 두 축을 기반으로 다음 </a:t>
            </a:r>
            <a:r>
              <a:rPr lang="en-US" altLang="ko-KR" sz="800" dirty="0">
                <a:latin typeface="맑은 고딕"/>
                <a:ea typeface="맑은 고딕"/>
              </a:rPr>
              <a:t>3</a:t>
            </a:r>
            <a:r>
              <a:rPr lang="ko-KR" altLang="en-US" sz="800" dirty="0">
                <a:latin typeface="맑은 고딕"/>
                <a:ea typeface="맑은 고딕"/>
              </a:rPr>
              <a:t>가지 정렬 기준을 설정한다</a:t>
            </a:r>
            <a:r>
              <a:rPr lang="en-US" altLang="ko-KR" sz="800">
                <a:latin typeface="맑은 고딕"/>
                <a:ea typeface="맑은 고딕"/>
              </a:rPr>
              <a:t>.</a:t>
            </a:r>
            <a:r>
              <a:rPr sz="650" b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endParaRPr lang="en-US" sz="650" b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1E2761"/>
                </a:solidFill>
                <a:latin typeface="맑은 고딕"/>
                <a:ea typeface="맑은 고딕"/>
              </a:rPr>
              <a:t>④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기대효과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·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예상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결과</a:t>
            </a:r>
            <a:endParaRPr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spcAft>
                <a:spcPts val="800"/>
              </a:spcAft>
            </a:pP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비전공자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눈높이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기대효과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2~3개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입력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(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전문적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예상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결과는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1개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이내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800" b="1" dirty="0" err="1">
                <a:solidFill>
                  <a:srgbClr val="1E2761"/>
                </a:solidFill>
                <a:latin typeface="맑은 고딕"/>
                <a:ea typeface="맑은 고딕"/>
              </a:rPr>
              <a:t>연구</a:t>
            </a:r>
            <a:r>
              <a:rPr sz="8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800" b="1" dirty="0" err="1">
                <a:solidFill>
                  <a:srgbClr val="1E2761"/>
                </a:solidFill>
                <a:latin typeface="맑은 고딕"/>
                <a:ea typeface="맑은 고딕"/>
              </a:rPr>
              <a:t>일정</a:t>
            </a:r>
            <a:endParaRPr sz="8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spcAft>
                <a:spcPts val="800"/>
              </a:spcAft>
            </a:pP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월별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핵심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단계만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3~4줄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입력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(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예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: 9월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모델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제작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→ 10월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실험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 → 11월 </a:t>
            </a:r>
            <a:r>
              <a:rPr sz="650" b="0" dirty="0" err="1">
                <a:solidFill>
                  <a:srgbClr val="555F6E"/>
                </a:solidFill>
                <a:latin typeface="맑은 고딕"/>
                <a:ea typeface="맑은 고딕"/>
              </a:rPr>
              <a:t>정리</a:t>
            </a:r>
            <a:r>
              <a:rPr sz="650" b="0" dirty="0">
                <a:solidFill>
                  <a:srgbClr val="555F6E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0"/>
              </a:spcAft>
            </a:pPr>
            <a:r>
              <a:rPr sz="700" b="1" dirty="0" err="1">
                <a:solidFill>
                  <a:srgbClr val="1E2761"/>
                </a:solidFill>
                <a:latin typeface="맑은 고딕"/>
                <a:ea typeface="맑은 고딕"/>
              </a:rPr>
              <a:t>참고문헌</a:t>
            </a:r>
            <a:r>
              <a:rPr sz="700" b="1" dirty="0">
                <a:solidFill>
                  <a:srgbClr val="1E2761"/>
                </a:solidFill>
                <a:latin typeface="맑은 고딕"/>
                <a:ea typeface="맑은 고딕"/>
              </a:rPr>
              <a:t>  </a:t>
            </a:r>
            <a:r>
              <a:rPr sz="600" b="0" dirty="0" err="1">
                <a:solidFill>
                  <a:srgbClr val="555F6E"/>
                </a:solidFill>
                <a:latin typeface="맑은 고딕"/>
                <a:ea typeface="맑은 고딕"/>
              </a:rPr>
              <a:t>핵심</a:t>
            </a:r>
            <a:r>
              <a:rPr sz="600" b="0" dirty="0">
                <a:solidFill>
                  <a:srgbClr val="555F6E"/>
                </a:solidFill>
                <a:latin typeface="맑은 고딕"/>
                <a:ea typeface="맑은 고딕"/>
              </a:rPr>
              <a:t> 2~3편 </a:t>
            </a:r>
            <a:r>
              <a:rPr sz="600" b="0" dirty="0" err="1">
                <a:solidFill>
                  <a:srgbClr val="555F6E"/>
                </a:solidFill>
                <a:latin typeface="맑은 고딕"/>
                <a:ea typeface="맑은 고딕"/>
              </a:rPr>
              <a:t>축약</a:t>
            </a:r>
            <a:r>
              <a:rPr sz="600" b="0" dirty="0">
                <a:solidFill>
                  <a:srgbClr val="555F6E"/>
                </a:solidFill>
                <a:latin typeface="맑은 고딕"/>
                <a:ea typeface="맑은 고딕"/>
              </a:rPr>
              <a:t> </a:t>
            </a:r>
            <a:r>
              <a:rPr sz="600" b="0" dirty="0" err="1">
                <a:solidFill>
                  <a:srgbClr val="555F6E"/>
                </a:solidFill>
                <a:latin typeface="맑은 고딕"/>
                <a:ea typeface="맑은 고딕"/>
              </a:rPr>
              <a:t>입력</a:t>
            </a:r>
            <a:r>
              <a:rPr sz="600" b="0" dirty="0">
                <a:solidFill>
                  <a:srgbClr val="555F6E"/>
                </a:solidFill>
                <a:latin typeface="맑은 고딕"/>
                <a:ea typeface="맑은 고딕"/>
              </a:rPr>
              <a:t> (</a:t>
            </a:r>
            <a:r>
              <a:rPr sz="600" b="0" dirty="0" err="1">
                <a:solidFill>
                  <a:srgbClr val="555F6E"/>
                </a:solidFill>
                <a:latin typeface="맑은 고딕"/>
                <a:ea typeface="맑은 고딕"/>
              </a:rPr>
              <a:t>예</a:t>
            </a:r>
            <a:r>
              <a:rPr sz="600" b="0" dirty="0">
                <a:solidFill>
                  <a:srgbClr val="555F6E"/>
                </a:solidFill>
                <a:latin typeface="맑은 고딕"/>
                <a:ea typeface="맑은 고딕"/>
              </a:rPr>
              <a:t>: Power et al. 2022; Nanda et al. 2023)</a:t>
            </a:r>
          </a:p>
        </p:txBody>
      </p:sp>
      <p:pic>
        <p:nvPicPr>
          <p:cNvPr id="3" name="그림 2" descr="Do Machine Learning Models Memorize or Generalize?">
            <a:extLst>
              <a:ext uri="{FF2B5EF4-FFF2-40B4-BE49-F238E27FC236}">
                <a16:creationId xmlns:a16="http://schemas.microsoft.com/office/drawing/2014/main" id="{1C3B43D1-5084-0DBF-18DC-F83ACDB33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29" y="4401364"/>
            <a:ext cx="2696301" cy="122151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254F8B2-E2DB-2D57-7824-BB0EDD71D88C}"/>
              </a:ext>
            </a:extLst>
          </p:cNvPr>
          <p:cNvSpPr txBox="1"/>
          <p:nvPr/>
        </p:nvSpPr>
        <p:spPr>
          <a:xfrm>
            <a:off x="4363884" y="4163296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입력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수열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(</a:t>
            </a:r>
            <a:r>
              <a:rPr lang="ko-KR" altLang="en-US" sz="500" b="1" dirty="0">
                <a:solidFill>
                  <a:srgbClr val="333333"/>
                </a:solidFill>
                <a:latin typeface="맑은 고딕"/>
                <a:ea typeface="맑은 고딕"/>
              </a:rPr>
              <a:t>순서 랜덤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7" name="Rectangle 3">
            <a:extLst>
              <a:ext uri="{FF2B5EF4-FFF2-40B4-BE49-F238E27FC236}">
                <a16:creationId xmlns:a16="http://schemas.microsoft.com/office/drawing/2014/main" id="{9A6E1F78-0EE2-49E3-E983-72A57441E4EA}"/>
              </a:ext>
            </a:extLst>
          </p:cNvPr>
          <p:cNvSpPr/>
          <p:nvPr/>
        </p:nvSpPr>
        <p:spPr>
          <a:xfrm>
            <a:off x="4546617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8" name="Rectangle 4">
            <a:extLst>
              <a:ext uri="{FF2B5EF4-FFF2-40B4-BE49-F238E27FC236}">
                <a16:creationId xmlns:a16="http://schemas.microsoft.com/office/drawing/2014/main" id="{396DE008-8E8B-F9E0-A20F-E8ABC14E70E2}"/>
              </a:ext>
            </a:extLst>
          </p:cNvPr>
          <p:cNvSpPr/>
          <p:nvPr/>
        </p:nvSpPr>
        <p:spPr>
          <a:xfrm>
            <a:off x="4723402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9" name="Rectangle 5">
            <a:extLst>
              <a:ext uri="{FF2B5EF4-FFF2-40B4-BE49-F238E27FC236}">
                <a16:creationId xmlns:a16="http://schemas.microsoft.com/office/drawing/2014/main" id="{7CCDB098-877F-BD88-898D-2C1CC8FFB7C9}"/>
              </a:ext>
            </a:extLst>
          </p:cNvPr>
          <p:cNvSpPr/>
          <p:nvPr/>
        </p:nvSpPr>
        <p:spPr>
          <a:xfrm>
            <a:off x="4900185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0" name="Rectangle 6">
            <a:extLst>
              <a:ext uri="{FF2B5EF4-FFF2-40B4-BE49-F238E27FC236}">
                <a16:creationId xmlns:a16="http://schemas.microsoft.com/office/drawing/2014/main" id="{AADD7C06-939C-E566-59A7-F75ECB908A28}"/>
              </a:ext>
            </a:extLst>
          </p:cNvPr>
          <p:cNvSpPr/>
          <p:nvPr/>
        </p:nvSpPr>
        <p:spPr>
          <a:xfrm>
            <a:off x="5076969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1" name="Rectangle 7">
            <a:extLst>
              <a:ext uri="{FF2B5EF4-FFF2-40B4-BE49-F238E27FC236}">
                <a16:creationId xmlns:a16="http://schemas.microsoft.com/office/drawing/2014/main" id="{5993AA03-CEF1-14EC-5E70-534424E88481}"/>
              </a:ext>
            </a:extLst>
          </p:cNvPr>
          <p:cNvSpPr/>
          <p:nvPr/>
        </p:nvSpPr>
        <p:spPr>
          <a:xfrm>
            <a:off x="5253753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42" name="Connector 8">
            <a:extLst>
              <a:ext uri="{FF2B5EF4-FFF2-40B4-BE49-F238E27FC236}">
                <a16:creationId xmlns:a16="http://schemas.microsoft.com/office/drawing/2014/main" id="{15F7A10F-9DD1-CEA6-BB41-D41215BE847C}"/>
              </a:ext>
            </a:extLst>
          </p:cNvPr>
          <p:cNvCxnSpPr>
            <a:cxnSpLocks/>
          </p:cNvCxnSpPr>
          <p:nvPr/>
        </p:nvCxnSpPr>
        <p:spPr>
          <a:xfrm flipH="1">
            <a:off x="3905762" y="4510194"/>
            <a:ext cx="1068594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91060F0-77DB-DBC0-3477-BF10644305BB}"/>
              </a:ext>
            </a:extLst>
          </p:cNvPr>
          <p:cNvSpPr txBox="1"/>
          <p:nvPr/>
        </p:nvSpPr>
        <p:spPr>
          <a:xfrm>
            <a:off x="3245530" y="4706778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A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오름차순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endParaRPr sz="500" b="1" dirty="0">
              <a:solidFill>
                <a:srgbClr val="333333"/>
              </a:solidFill>
              <a:latin typeface="맑은 고딕"/>
              <a:ea typeface="맑은 고딕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6328C051-61EE-3B83-86D9-9064F54AC4B2}"/>
              </a:ext>
            </a:extLst>
          </p:cNvPr>
          <p:cNvSpPr/>
          <p:nvPr/>
        </p:nvSpPr>
        <p:spPr>
          <a:xfrm>
            <a:off x="3461086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5" name="Rectangle 11">
            <a:extLst>
              <a:ext uri="{FF2B5EF4-FFF2-40B4-BE49-F238E27FC236}">
                <a16:creationId xmlns:a16="http://schemas.microsoft.com/office/drawing/2014/main" id="{2599D488-F670-9781-AAC4-18D9039DD856}"/>
              </a:ext>
            </a:extLst>
          </p:cNvPr>
          <p:cNvSpPr/>
          <p:nvPr/>
        </p:nvSpPr>
        <p:spPr>
          <a:xfrm>
            <a:off x="3637870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4C40E51C-67B3-EBEA-3AD3-94CFD50BB310}"/>
              </a:ext>
            </a:extLst>
          </p:cNvPr>
          <p:cNvSpPr/>
          <p:nvPr/>
        </p:nvSpPr>
        <p:spPr>
          <a:xfrm>
            <a:off x="3814654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7" name="Rectangle 13">
            <a:extLst>
              <a:ext uri="{FF2B5EF4-FFF2-40B4-BE49-F238E27FC236}">
                <a16:creationId xmlns:a16="http://schemas.microsoft.com/office/drawing/2014/main" id="{7AE4DC3D-49EE-8594-55E3-F5EF922F4994}"/>
              </a:ext>
            </a:extLst>
          </p:cNvPr>
          <p:cNvSpPr/>
          <p:nvPr/>
        </p:nvSpPr>
        <p:spPr>
          <a:xfrm>
            <a:off x="3991438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8" name="Rectangle 14">
            <a:extLst>
              <a:ext uri="{FF2B5EF4-FFF2-40B4-BE49-F238E27FC236}">
                <a16:creationId xmlns:a16="http://schemas.microsoft.com/office/drawing/2014/main" id="{AB929C1B-46D5-986F-9C41-7A21F3A28E1F}"/>
              </a:ext>
            </a:extLst>
          </p:cNvPr>
          <p:cNvSpPr/>
          <p:nvPr/>
        </p:nvSpPr>
        <p:spPr>
          <a:xfrm>
            <a:off x="4168222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49" name="Connector 16">
            <a:extLst>
              <a:ext uri="{FF2B5EF4-FFF2-40B4-BE49-F238E27FC236}">
                <a16:creationId xmlns:a16="http://schemas.microsoft.com/office/drawing/2014/main" id="{D49AB154-429B-8940-AC55-55C0D4638F47}"/>
              </a:ext>
            </a:extLst>
          </p:cNvPr>
          <p:cNvCxnSpPr>
            <a:cxnSpLocks/>
          </p:cNvCxnSpPr>
          <p:nvPr/>
        </p:nvCxnSpPr>
        <p:spPr>
          <a:xfrm>
            <a:off x="4976385" y="4510194"/>
            <a:ext cx="0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16A07C4-0B9B-82FA-D664-DD64444B7017}"/>
              </a:ext>
            </a:extLst>
          </p:cNvPr>
          <p:cNvSpPr txBox="1"/>
          <p:nvPr/>
        </p:nvSpPr>
        <p:spPr>
          <a:xfrm>
            <a:off x="4366786" y="4706778"/>
            <a:ext cx="1260952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B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잉여류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기반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(mod 3)</a:t>
            </a:r>
          </a:p>
        </p:txBody>
      </p:sp>
      <p:sp>
        <p:nvSpPr>
          <p:cNvPr id="51" name="Rectangle 18">
            <a:extLst>
              <a:ext uri="{FF2B5EF4-FFF2-40B4-BE49-F238E27FC236}">
                <a16:creationId xmlns:a16="http://schemas.microsoft.com/office/drawing/2014/main" id="{56ED826F-6F7D-CCB5-76A1-EA49A9AF35F1}"/>
              </a:ext>
            </a:extLst>
          </p:cNvPr>
          <p:cNvSpPr/>
          <p:nvPr/>
        </p:nvSpPr>
        <p:spPr>
          <a:xfrm>
            <a:off x="4546617" y="4866458"/>
            <a:ext cx="152400" cy="152400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52" name="Rectangle 19">
            <a:extLst>
              <a:ext uri="{FF2B5EF4-FFF2-40B4-BE49-F238E27FC236}">
                <a16:creationId xmlns:a16="http://schemas.microsoft.com/office/drawing/2014/main" id="{A3D7B0EE-BC96-E9BD-9B79-5468972B9012}"/>
              </a:ext>
            </a:extLst>
          </p:cNvPr>
          <p:cNvSpPr/>
          <p:nvPr/>
        </p:nvSpPr>
        <p:spPr>
          <a:xfrm>
            <a:off x="4723402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3" name="Rectangle 20">
            <a:extLst>
              <a:ext uri="{FF2B5EF4-FFF2-40B4-BE49-F238E27FC236}">
                <a16:creationId xmlns:a16="http://schemas.microsoft.com/office/drawing/2014/main" id="{726D7316-B0E0-776E-1C02-E564BC9AC693}"/>
              </a:ext>
            </a:extLst>
          </p:cNvPr>
          <p:cNvSpPr/>
          <p:nvPr/>
        </p:nvSpPr>
        <p:spPr>
          <a:xfrm>
            <a:off x="4900185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4" name="Rectangle 21">
            <a:extLst>
              <a:ext uri="{FF2B5EF4-FFF2-40B4-BE49-F238E27FC236}">
                <a16:creationId xmlns:a16="http://schemas.microsoft.com/office/drawing/2014/main" id="{6CADFB5C-D6BF-0406-B0B4-A5A45A4F9CA5}"/>
              </a:ext>
            </a:extLst>
          </p:cNvPr>
          <p:cNvSpPr/>
          <p:nvPr/>
        </p:nvSpPr>
        <p:spPr>
          <a:xfrm>
            <a:off x="5076969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55" name="Rectangle 22">
            <a:extLst>
              <a:ext uri="{FF2B5EF4-FFF2-40B4-BE49-F238E27FC236}">
                <a16:creationId xmlns:a16="http://schemas.microsoft.com/office/drawing/2014/main" id="{6C060DD7-BF7B-AE5C-9349-282865EB0729}"/>
              </a:ext>
            </a:extLst>
          </p:cNvPr>
          <p:cNvSpPr/>
          <p:nvPr/>
        </p:nvSpPr>
        <p:spPr>
          <a:xfrm>
            <a:off x="5253753" y="4866458"/>
            <a:ext cx="152400" cy="152400"/>
          </a:xfrm>
          <a:prstGeom prst="rect">
            <a:avLst/>
          </a:prstGeom>
          <a:solidFill>
            <a:srgbClr val="D5F5E3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7E26A74-E939-1C8E-9048-6115BBF41870}"/>
              </a:ext>
            </a:extLst>
          </p:cNvPr>
          <p:cNvSpPr txBox="1"/>
          <p:nvPr/>
        </p:nvSpPr>
        <p:spPr>
          <a:xfrm>
            <a:off x="4546617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F5E1BC5-5795-2356-5872-90FAC30D9585}"/>
              </a:ext>
            </a:extLst>
          </p:cNvPr>
          <p:cNvSpPr txBox="1"/>
          <p:nvPr/>
        </p:nvSpPr>
        <p:spPr>
          <a:xfrm>
            <a:off x="4723402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FBCF0E5-B5C2-67D1-8D32-30608C47DBB1}"/>
              </a:ext>
            </a:extLst>
          </p:cNvPr>
          <p:cNvSpPr txBox="1"/>
          <p:nvPr/>
        </p:nvSpPr>
        <p:spPr>
          <a:xfrm>
            <a:off x="4900185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C29ADD5-A220-15C3-32B1-C169F3A90F21}"/>
              </a:ext>
            </a:extLst>
          </p:cNvPr>
          <p:cNvSpPr txBox="1"/>
          <p:nvPr/>
        </p:nvSpPr>
        <p:spPr>
          <a:xfrm>
            <a:off x="5076969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9C66B9-F41B-A24F-B5CA-81CE8CC2E165}"/>
              </a:ext>
            </a:extLst>
          </p:cNvPr>
          <p:cNvSpPr txBox="1"/>
          <p:nvPr/>
        </p:nvSpPr>
        <p:spPr>
          <a:xfrm>
            <a:off x="5253753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61" name="Connector 29">
            <a:extLst>
              <a:ext uri="{FF2B5EF4-FFF2-40B4-BE49-F238E27FC236}">
                <a16:creationId xmlns:a16="http://schemas.microsoft.com/office/drawing/2014/main" id="{8F757A98-29E9-2775-CF92-31C88C45F6D6}"/>
              </a:ext>
            </a:extLst>
          </p:cNvPr>
          <p:cNvCxnSpPr>
            <a:cxnSpLocks/>
          </p:cNvCxnSpPr>
          <p:nvPr/>
        </p:nvCxnSpPr>
        <p:spPr>
          <a:xfrm>
            <a:off x="4974356" y="4510194"/>
            <a:ext cx="1070622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68DD229-0A96-AD3D-008C-66A0DEAA3464}"/>
              </a:ext>
            </a:extLst>
          </p:cNvPr>
          <p:cNvSpPr txBox="1"/>
          <p:nvPr/>
        </p:nvSpPr>
        <p:spPr>
          <a:xfrm>
            <a:off x="5472290" y="4711373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C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최</a:t>
            </a:r>
            <a:r>
              <a:rPr lang="ko-KR" altLang="en-US" sz="500" b="1" dirty="0">
                <a:solidFill>
                  <a:srgbClr val="333333"/>
                </a:solidFill>
                <a:latin typeface="맑은 고딕"/>
                <a:ea typeface="맑은 고딕"/>
              </a:rPr>
              <a:t>소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·</a:t>
            </a:r>
            <a:r>
              <a:rPr lang="ko-KR" altLang="en-US"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최댓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값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교번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endParaRPr sz="500" b="1" dirty="0">
              <a:solidFill>
                <a:srgbClr val="333333"/>
              </a:solidFill>
              <a:latin typeface="맑은 고딕"/>
              <a:ea typeface="맑은 고딕"/>
            </a:endParaRPr>
          </a:p>
        </p:txBody>
      </p:sp>
      <p:sp>
        <p:nvSpPr>
          <p:cNvPr id="63" name="Rectangle 31">
            <a:extLst>
              <a:ext uri="{FF2B5EF4-FFF2-40B4-BE49-F238E27FC236}">
                <a16:creationId xmlns:a16="http://schemas.microsoft.com/office/drawing/2014/main" id="{E2E41FE1-1CC3-1C2F-A6FA-0C746A2A93DD}"/>
              </a:ext>
            </a:extLst>
          </p:cNvPr>
          <p:cNvSpPr/>
          <p:nvPr/>
        </p:nvSpPr>
        <p:spPr>
          <a:xfrm>
            <a:off x="5652122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4" name="Rectangle 32">
            <a:extLst>
              <a:ext uri="{FF2B5EF4-FFF2-40B4-BE49-F238E27FC236}">
                <a16:creationId xmlns:a16="http://schemas.microsoft.com/office/drawing/2014/main" id="{B3820DFB-AC55-DBAE-535F-075B8C28951F}"/>
              </a:ext>
            </a:extLst>
          </p:cNvPr>
          <p:cNvSpPr/>
          <p:nvPr/>
        </p:nvSpPr>
        <p:spPr>
          <a:xfrm>
            <a:off x="5828906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65" name="Rectangle 33">
            <a:extLst>
              <a:ext uri="{FF2B5EF4-FFF2-40B4-BE49-F238E27FC236}">
                <a16:creationId xmlns:a16="http://schemas.microsoft.com/office/drawing/2014/main" id="{13950230-D01F-A233-93BA-E8974CF0B7A5}"/>
              </a:ext>
            </a:extLst>
          </p:cNvPr>
          <p:cNvSpPr/>
          <p:nvPr/>
        </p:nvSpPr>
        <p:spPr>
          <a:xfrm>
            <a:off x="6005690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6" name="Rectangle 34">
            <a:extLst>
              <a:ext uri="{FF2B5EF4-FFF2-40B4-BE49-F238E27FC236}">
                <a16:creationId xmlns:a16="http://schemas.microsoft.com/office/drawing/2014/main" id="{4ABF18E5-6871-FF54-C8B9-ECAA5A3AE4D5}"/>
              </a:ext>
            </a:extLst>
          </p:cNvPr>
          <p:cNvSpPr/>
          <p:nvPr/>
        </p:nvSpPr>
        <p:spPr>
          <a:xfrm>
            <a:off x="6182474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67" name="Rectangle 35">
            <a:extLst>
              <a:ext uri="{FF2B5EF4-FFF2-40B4-BE49-F238E27FC236}">
                <a16:creationId xmlns:a16="http://schemas.microsoft.com/office/drawing/2014/main" id="{B7C2C650-638D-B53A-559F-E9ADE21ED7E5}"/>
              </a:ext>
            </a:extLst>
          </p:cNvPr>
          <p:cNvSpPr/>
          <p:nvPr/>
        </p:nvSpPr>
        <p:spPr>
          <a:xfrm>
            <a:off x="6359258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75059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437</TotalTime>
  <Words>506</Words>
  <Application>Microsoft Macintosh PowerPoint</Application>
  <PresentationFormat>Letter 용지(8.5x11in)</PresentationFormat>
  <Paragraphs>65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1984대화나눔_본문체_Bold</vt:lpstr>
      <vt:lpstr>맑은 고딕</vt:lpstr>
      <vt:lpstr>Arial</vt:lpstr>
      <vt:lpstr>Calibri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teacher</dc:creator>
  <cp:lastModifiedBy>손영우</cp:lastModifiedBy>
  <cp:revision>3</cp:revision>
  <dcterms:created xsi:type="dcterms:W3CDTF">2026-06-30T01:35:29Z</dcterms:created>
  <dcterms:modified xsi:type="dcterms:W3CDTF">2026-07-02T12:04:54Z</dcterms:modified>
</cp:coreProperties>
</file>